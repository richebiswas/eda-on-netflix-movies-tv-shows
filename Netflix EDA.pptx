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Bold" charset="1" panose="020B0704020202020204"/>
      <p:regular r:id="rId19"/>
    </p:embeddedFont>
    <p:embeddedFont>
      <p:font typeface="Arimo Bold" charset="1" panose="020B0704020202020204"/>
      <p:regular r:id="rId20"/>
    </p:embeddedFont>
    <p:embeddedFont>
      <p:font typeface="Arimo" charset="1" panose="020B0604020202020204"/>
      <p:regular r:id="rId21"/>
    </p:embeddedFont>
    <p:embeddedFont>
      <p:font typeface="Canva Sans" charset="1" panose="020B0503030501040103"/>
      <p:regular r:id="rId22"/>
    </p:embeddedFont>
    <p:embeddedFont>
      <p:font typeface="Calibri (MS)" charset="1" panose="020F0502020204030204"/>
      <p:regular r:id="rId23"/>
    </p:embeddedFont>
    <p:embeddedFont>
      <p:font typeface="Arimo Italics" charset="1" panose="020B0604020202090204"/>
      <p:regular r:id="rId24"/>
    </p:embeddedFont>
    <p:embeddedFont>
      <p:font typeface="Playpen San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548640" y="1855620"/>
            <a:ext cx="15122880" cy="6575760"/>
            <a:chOff x="0" y="0"/>
            <a:chExt cx="20163840" cy="8767680"/>
          </a:xfrm>
        </p:grpSpPr>
        <p:sp>
          <p:nvSpPr>
            <p:cNvPr name="Freeform 3" id="3"/>
            <p:cNvSpPr/>
            <p:nvPr/>
          </p:nvSpPr>
          <p:spPr>
            <a:xfrm flipH="false" flipV="false" rot="0">
              <a:off x="0" y="0"/>
              <a:ext cx="20163789" cy="8767699"/>
            </a:xfrm>
            <a:custGeom>
              <a:avLst/>
              <a:gdLst/>
              <a:ahLst/>
              <a:cxnLst/>
              <a:rect r="r" b="b" t="t" l="l"/>
              <a:pathLst>
                <a:path h="8767699" w="20163789">
                  <a:moveTo>
                    <a:pt x="0" y="1523873"/>
                  </a:moveTo>
                  <a:cubicBezTo>
                    <a:pt x="0" y="682244"/>
                    <a:pt x="682244" y="0"/>
                    <a:pt x="1523873" y="0"/>
                  </a:cubicBezTo>
                  <a:lnTo>
                    <a:pt x="18639917" y="0"/>
                  </a:lnTo>
                  <a:cubicBezTo>
                    <a:pt x="19481546" y="0"/>
                    <a:pt x="20163789" y="682244"/>
                    <a:pt x="20163789" y="1523873"/>
                  </a:cubicBezTo>
                  <a:lnTo>
                    <a:pt x="20163789" y="7243826"/>
                  </a:lnTo>
                  <a:cubicBezTo>
                    <a:pt x="20163789" y="8085455"/>
                    <a:pt x="19481546" y="8767699"/>
                    <a:pt x="18639917" y="8767699"/>
                  </a:cubicBezTo>
                  <a:lnTo>
                    <a:pt x="1523873" y="8767699"/>
                  </a:lnTo>
                  <a:cubicBezTo>
                    <a:pt x="682244" y="8767699"/>
                    <a:pt x="0" y="8085455"/>
                    <a:pt x="0" y="7243826"/>
                  </a:cubicBezTo>
                  <a:close/>
                </a:path>
              </a:pathLst>
            </a:custGeom>
            <a:blipFill>
              <a:blip r:embed="rId2"/>
              <a:stretch>
                <a:fillRect l="0" t="-14681" r="0" b="-14681"/>
              </a:stretch>
            </a:blipFill>
          </p:spPr>
        </p:sp>
      </p:grpSp>
      <p:grpSp>
        <p:nvGrpSpPr>
          <p:cNvPr name="Group 4" id="4"/>
          <p:cNvGrpSpPr/>
          <p:nvPr/>
        </p:nvGrpSpPr>
        <p:grpSpPr>
          <a:xfrm rot="0">
            <a:off x="318075" y="316635"/>
            <a:ext cx="277530" cy="290490"/>
            <a:chOff x="0" y="0"/>
            <a:chExt cx="370040" cy="387320"/>
          </a:xfrm>
        </p:grpSpPr>
        <p:sp>
          <p:nvSpPr>
            <p:cNvPr name="Freeform 5" id="5"/>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sp>
        <p:nvSpPr>
          <p:cNvPr name="AutoShape 6" id="6"/>
          <p:cNvSpPr/>
          <p:nvPr/>
        </p:nvSpPr>
        <p:spPr>
          <a:xfrm rot="6996">
            <a:off x="770945" y="462600"/>
            <a:ext cx="9713870" cy="0"/>
          </a:xfrm>
          <a:prstGeom prst="line">
            <a:avLst/>
          </a:prstGeom>
          <a:ln cap="rnd" w="9525">
            <a:solidFill>
              <a:srgbClr val="F1C572"/>
            </a:solidFill>
            <a:prstDash val="solid"/>
            <a:headEnd type="none" len="sm" w="sm"/>
            <a:tailEnd type="none" len="sm" w="sm"/>
          </a:ln>
        </p:spPr>
      </p:sp>
      <p:sp>
        <p:nvSpPr>
          <p:cNvPr name="TextBox 7" id="7"/>
          <p:cNvSpPr txBox="true"/>
          <p:nvPr/>
        </p:nvSpPr>
        <p:spPr>
          <a:xfrm rot="0">
            <a:off x="10477440" y="266790"/>
            <a:ext cx="1008720" cy="228600"/>
          </a:xfrm>
          <a:prstGeom prst="rect">
            <a:avLst/>
          </a:prstGeom>
        </p:spPr>
        <p:txBody>
          <a:bodyPr anchor="t" rtlCol="false" tIns="0" lIns="0" bIns="0" rIns="0">
            <a:spAutoFit/>
          </a:bodyPr>
          <a:lstStyle/>
          <a:p>
            <a:pPr algn="ctr">
              <a:lnSpc>
                <a:spcPts val="1679"/>
              </a:lnSpc>
            </a:pPr>
            <a:r>
              <a:rPr lang="en-US" sz="1399" b="true">
                <a:solidFill>
                  <a:srgbClr val="F1C572"/>
                </a:solidFill>
                <a:latin typeface="Arial Bold"/>
                <a:ea typeface="Arial Bold"/>
                <a:cs typeface="Arial Bold"/>
                <a:sym typeface="Arial Bold"/>
              </a:rPr>
              <a:t>2025</a:t>
            </a:r>
          </a:p>
        </p:txBody>
      </p:sp>
      <p:sp>
        <p:nvSpPr>
          <p:cNvPr name="TextBox 8" id="8"/>
          <p:cNvSpPr txBox="true"/>
          <p:nvPr/>
        </p:nvSpPr>
        <p:spPr>
          <a:xfrm rot="0">
            <a:off x="12725280" y="266790"/>
            <a:ext cx="1942560" cy="228600"/>
          </a:xfrm>
          <a:prstGeom prst="rect">
            <a:avLst/>
          </a:prstGeom>
        </p:spPr>
        <p:txBody>
          <a:bodyPr anchor="t" rtlCol="false" tIns="0" lIns="0" bIns="0" rIns="0">
            <a:spAutoFit/>
          </a:bodyPr>
          <a:lstStyle/>
          <a:p>
            <a:pPr algn="ctr">
              <a:lnSpc>
                <a:spcPts val="1679"/>
              </a:lnSpc>
            </a:pPr>
            <a:r>
              <a:rPr lang="en-US" sz="1399" b="true">
                <a:solidFill>
                  <a:srgbClr val="F1C572"/>
                </a:solidFill>
                <a:latin typeface="Arial Bold"/>
                <a:ea typeface="Arial Bold"/>
                <a:cs typeface="Arial Bold"/>
                <a:sym typeface="Arial Bold"/>
              </a:rPr>
              <a:t>IBM PROJECT</a:t>
            </a:r>
          </a:p>
        </p:txBody>
      </p:sp>
      <p:sp>
        <p:nvSpPr>
          <p:cNvPr name="AutoShape 9" id="9"/>
          <p:cNvSpPr/>
          <p:nvPr/>
        </p:nvSpPr>
        <p:spPr>
          <a:xfrm rot="54013">
            <a:off x="11477277" y="462600"/>
            <a:ext cx="1258325" cy="0"/>
          </a:xfrm>
          <a:prstGeom prst="line">
            <a:avLst/>
          </a:prstGeom>
          <a:ln cap="rnd" w="9525">
            <a:solidFill>
              <a:srgbClr val="F1C572"/>
            </a:solidFill>
            <a:prstDash val="solid"/>
            <a:headEnd type="none" len="sm" w="sm"/>
            <a:tailEnd type="none" len="sm" w="sm"/>
          </a:ln>
        </p:spPr>
      </p:sp>
      <p:sp>
        <p:nvSpPr>
          <p:cNvPr name="AutoShape 10" id="10"/>
          <p:cNvSpPr/>
          <p:nvPr/>
        </p:nvSpPr>
        <p:spPr>
          <a:xfrm flipV="true">
            <a:off x="14660475" y="457478"/>
            <a:ext cx="3084119" cy="0"/>
          </a:xfrm>
          <a:prstGeom prst="line">
            <a:avLst/>
          </a:prstGeom>
          <a:ln cap="rnd" w="9525">
            <a:solidFill>
              <a:srgbClr val="F1C572"/>
            </a:solidFill>
            <a:prstDash val="solid"/>
            <a:headEnd type="none" len="sm" w="sm"/>
            <a:tailEnd type="none" len="sm" w="sm"/>
          </a:ln>
        </p:spPr>
      </p:sp>
      <p:sp>
        <p:nvSpPr>
          <p:cNvPr name="TextBox 11" id="11"/>
          <p:cNvSpPr txBox="true"/>
          <p:nvPr/>
        </p:nvSpPr>
        <p:spPr>
          <a:xfrm rot="0">
            <a:off x="209520" y="990600"/>
            <a:ext cx="17190000" cy="1343025"/>
          </a:xfrm>
          <a:prstGeom prst="rect">
            <a:avLst/>
          </a:prstGeom>
        </p:spPr>
        <p:txBody>
          <a:bodyPr anchor="t" rtlCol="false" tIns="0" lIns="0" bIns="0" rIns="0">
            <a:spAutoFit/>
          </a:bodyPr>
          <a:lstStyle/>
          <a:p>
            <a:pPr algn="r">
              <a:lnSpc>
                <a:spcPts val="10320"/>
              </a:lnSpc>
            </a:pPr>
            <a:r>
              <a:rPr lang="en-US" sz="8600" b="true">
                <a:solidFill>
                  <a:srgbClr val="FFFFFF"/>
                </a:solidFill>
                <a:latin typeface="Arimo Bold"/>
                <a:ea typeface="Arimo Bold"/>
                <a:cs typeface="Arimo Bold"/>
                <a:sym typeface="Arimo Bold"/>
              </a:rPr>
              <a:t>Netflix EDA</a:t>
            </a:r>
          </a:p>
        </p:txBody>
      </p:sp>
      <p:sp>
        <p:nvSpPr>
          <p:cNvPr name="TextBox 12" id="12"/>
          <p:cNvSpPr txBox="true"/>
          <p:nvPr/>
        </p:nvSpPr>
        <p:spPr>
          <a:xfrm rot="0">
            <a:off x="12725280" y="7872150"/>
            <a:ext cx="4674240" cy="1102155"/>
          </a:xfrm>
          <a:prstGeom prst="rect">
            <a:avLst/>
          </a:prstGeom>
        </p:spPr>
        <p:txBody>
          <a:bodyPr anchor="t" rtlCol="false" tIns="0" lIns="0" bIns="0" rIns="0">
            <a:spAutoFit/>
          </a:bodyPr>
          <a:lstStyle/>
          <a:p>
            <a:pPr algn="l">
              <a:lnSpc>
                <a:spcPts val="3456"/>
              </a:lnSpc>
            </a:pPr>
            <a:r>
              <a:rPr lang="en-US" sz="3200">
                <a:solidFill>
                  <a:srgbClr val="FFFFFF"/>
                </a:solidFill>
                <a:latin typeface="Arimo"/>
                <a:ea typeface="Arimo"/>
                <a:cs typeface="Arimo"/>
                <a:sym typeface="Arimo"/>
              </a:rPr>
              <a:t>Exploratory Data Analysis Project</a:t>
            </a:r>
          </a:p>
        </p:txBody>
      </p:sp>
      <p:sp>
        <p:nvSpPr>
          <p:cNvPr name="TextBox 13" id="13"/>
          <p:cNvSpPr txBox="true"/>
          <p:nvPr/>
        </p:nvSpPr>
        <p:spPr>
          <a:xfrm rot="0">
            <a:off x="12735525" y="8974305"/>
            <a:ext cx="4745831" cy="838200"/>
          </a:xfrm>
          <a:prstGeom prst="rect">
            <a:avLst/>
          </a:prstGeom>
        </p:spPr>
        <p:txBody>
          <a:bodyPr anchor="t" rtlCol="false" tIns="0" lIns="0" bIns="0" rIns="0">
            <a:spAutoFit/>
          </a:bodyPr>
          <a:lstStyle/>
          <a:p>
            <a:pPr algn="ctr">
              <a:lnSpc>
                <a:spcPts val="3360"/>
              </a:lnSpc>
              <a:spcBef>
                <a:spcPct val="0"/>
              </a:spcBef>
            </a:pPr>
            <a:r>
              <a:rPr lang="en-US" sz="2800">
                <a:solidFill>
                  <a:srgbClr val="FFFFFF"/>
                </a:solidFill>
                <a:latin typeface="Canva Sans"/>
                <a:ea typeface="Canva Sans"/>
                <a:cs typeface="Canva Sans"/>
                <a:sym typeface="Canva Sans"/>
              </a:rPr>
              <a:t>BY: </a:t>
            </a:r>
            <a:r>
              <a:rPr lang="en-US" sz="2800">
                <a:solidFill>
                  <a:srgbClr val="FFFFFF"/>
                </a:solidFill>
                <a:latin typeface="Canva Sans"/>
                <a:ea typeface="Canva Sans"/>
                <a:cs typeface="Canva Sans"/>
                <a:sym typeface="Canva Sans"/>
              </a:rPr>
              <a:t>Krittika Biswas</a:t>
            </a:r>
          </a:p>
          <a:p>
            <a:pPr algn="ctr">
              <a:lnSpc>
                <a:spcPts val="3360"/>
              </a:lnSpc>
              <a:spcBef>
                <a:spcPct val="0"/>
              </a:spcBef>
            </a:pPr>
            <a:r>
              <a:rPr lang="en-US" sz="2800">
                <a:solidFill>
                  <a:srgbClr val="FFFFFF"/>
                </a:solidFill>
                <a:latin typeface="Canva Sans"/>
                <a:ea typeface="Canva Sans"/>
                <a:cs typeface="Canva Sans"/>
                <a:sym typeface="Canva Sans"/>
              </a:rPr>
              <a:t>Mentor’s Name: Arif Hassan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31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sp>
        <p:nvSpPr>
          <p:cNvPr name="AutoShape 4" id="4"/>
          <p:cNvSpPr/>
          <p:nvPr/>
        </p:nvSpPr>
        <p:spPr>
          <a:xfrm rot="3936">
            <a:off x="704709" y="462600"/>
            <a:ext cx="17263781"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7864344" y="4798273"/>
            <a:ext cx="9965736" cy="4741703"/>
            <a:chOff x="0" y="0"/>
            <a:chExt cx="13130880" cy="6247680"/>
          </a:xfrm>
        </p:grpSpPr>
        <p:sp>
          <p:nvSpPr>
            <p:cNvPr name="Freeform 6" id="6"/>
            <p:cNvSpPr/>
            <p:nvPr/>
          </p:nvSpPr>
          <p:spPr>
            <a:xfrm flipH="false" flipV="false" rot="0">
              <a:off x="0" y="0"/>
              <a:ext cx="13130881" cy="6247680"/>
            </a:xfrm>
            <a:custGeom>
              <a:avLst/>
              <a:gdLst/>
              <a:ahLst/>
              <a:cxnLst/>
              <a:rect r="r" b="b" t="t" l="l"/>
              <a:pathLst>
                <a:path h="6247680" w="13130881">
                  <a:moveTo>
                    <a:pt x="0" y="0"/>
                  </a:moveTo>
                  <a:lnTo>
                    <a:pt x="13130881" y="0"/>
                  </a:lnTo>
                  <a:lnTo>
                    <a:pt x="13130881" y="6247680"/>
                  </a:lnTo>
                  <a:lnTo>
                    <a:pt x="0" y="6247680"/>
                  </a:lnTo>
                  <a:close/>
                </a:path>
              </a:pathLst>
            </a:custGeom>
            <a:solidFill>
              <a:srgbClr val="000000">
                <a:alpha val="0"/>
              </a:srgbClr>
            </a:solidFill>
          </p:spPr>
        </p:sp>
        <p:sp>
          <p:nvSpPr>
            <p:cNvPr name="TextBox 7" id="7"/>
            <p:cNvSpPr txBox="true"/>
            <p:nvPr/>
          </p:nvSpPr>
          <p:spPr>
            <a:xfrm>
              <a:off x="0" y="-180975"/>
              <a:ext cx="13130880" cy="6428655"/>
            </a:xfrm>
            <a:prstGeom prst="rect">
              <a:avLst/>
            </a:prstGeom>
          </p:spPr>
          <p:txBody>
            <a:bodyPr anchor="b" rtlCol="false" tIns="0" lIns="0" bIns="0" rIns="0"/>
            <a:lstStyle/>
            <a:p>
              <a:pPr algn="l">
                <a:lnSpc>
                  <a:spcPts val="5219"/>
                </a:lnSpc>
              </a:pPr>
              <a:r>
                <a:rPr lang="en-US" sz="2899">
                  <a:solidFill>
                    <a:srgbClr val="FFFFFF"/>
                  </a:solidFill>
                  <a:latin typeface="Arimo"/>
                  <a:ea typeface="Arimo"/>
                  <a:cs typeface="Arimo"/>
                  <a:sym typeface="Arimo"/>
                </a:rPr>
                <a:t>This project conducts an Exploratory Data Analysis (EDA) on the Netflix movies dataset to uncover content trends and viewer engagement. The analysis focuses on release year patterns, popularity versus vote count, and content types, providing insights into how Netflixs catalog has evolved over time and which factors influence popularity.</a:t>
              </a:r>
            </a:p>
          </p:txBody>
        </p:sp>
      </p:grpSp>
      <p:sp>
        <p:nvSpPr>
          <p:cNvPr name="Freeform 8" id="8"/>
          <p:cNvSpPr/>
          <p:nvPr/>
        </p:nvSpPr>
        <p:spPr>
          <a:xfrm flipH="false" flipV="false" rot="0">
            <a:off x="1028700" y="1028700"/>
            <a:ext cx="4553994" cy="8095988"/>
          </a:xfrm>
          <a:custGeom>
            <a:avLst/>
            <a:gdLst/>
            <a:ahLst/>
            <a:cxnLst/>
            <a:rect r="r" b="b" t="t" l="l"/>
            <a:pathLst>
              <a:path h="8095988" w="4553994">
                <a:moveTo>
                  <a:pt x="0" y="0"/>
                </a:moveTo>
                <a:lnTo>
                  <a:pt x="4553994" y="0"/>
                </a:lnTo>
                <a:lnTo>
                  <a:pt x="4553994" y="8095988"/>
                </a:lnTo>
                <a:lnTo>
                  <a:pt x="0" y="8095988"/>
                </a:lnTo>
                <a:lnTo>
                  <a:pt x="0" y="0"/>
                </a:lnTo>
                <a:close/>
              </a:path>
            </a:pathLst>
          </a:custGeom>
          <a:blipFill>
            <a:blip r:embed="rId2"/>
            <a:stretch>
              <a:fillRect l="0" t="0" r="0" b="0"/>
            </a:stretch>
          </a:blipFill>
        </p:spPr>
      </p:sp>
      <p:sp>
        <p:nvSpPr>
          <p:cNvPr name="TextBox 9" id="9"/>
          <p:cNvSpPr txBox="true"/>
          <p:nvPr/>
        </p:nvSpPr>
        <p:spPr>
          <a:xfrm rot="0">
            <a:off x="7248264" y="794220"/>
            <a:ext cx="11894400" cy="1162050"/>
          </a:xfrm>
          <a:prstGeom prst="rect">
            <a:avLst/>
          </a:prstGeom>
        </p:spPr>
        <p:txBody>
          <a:bodyPr anchor="t" rtlCol="false" tIns="0" lIns="0" bIns="0" rIns="0">
            <a:spAutoFit/>
          </a:bodyPr>
          <a:lstStyle/>
          <a:p>
            <a:pPr algn="l">
              <a:lnSpc>
                <a:spcPts val="8879"/>
              </a:lnSpc>
            </a:pPr>
            <a:r>
              <a:rPr lang="en-US" sz="7399" b="true">
                <a:solidFill>
                  <a:srgbClr val="FFFFFF"/>
                </a:solidFill>
                <a:latin typeface="Arimo Bold"/>
                <a:ea typeface="Arimo Bold"/>
                <a:cs typeface="Arimo Bold"/>
                <a:sym typeface="Arimo Bold"/>
              </a:rPr>
              <a:t>Introduction: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68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4" id="4"/>
          <p:cNvSpPr/>
          <p:nvPr/>
        </p:nvSpPr>
        <p:spPr>
          <a:xfrm rot="10796063">
            <a:off x="318069" y="462600"/>
            <a:ext cx="17263781"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6696000" y="832320"/>
            <a:ext cx="11134080" cy="8251920"/>
            <a:chOff x="0" y="0"/>
            <a:chExt cx="14845440" cy="11002560"/>
          </a:xfrm>
        </p:grpSpPr>
        <p:sp>
          <p:nvSpPr>
            <p:cNvPr name="Freeform 6" id="6"/>
            <p:cNvSpPr/>
            <p:nvPr/>
          </p:nvSpPr>
          <p:spPr>
            <a:xfrm flipH="false" flipV="false" rot="0">
              <a:off x="0" y="0"/>
              <a:ext cx="14845412" cy="11002518"/>
            </a:xfrm>
            <a:custGeom>
              <a:avLst/>
              <a:gdLst/>
              <a:ahLst/>
              <a:cxnLst/>
              <a:rect r="r" b="b" t="t" l="l"/>
              <a:pathLst>
                <a:path h="11002518" w="14845412">
                  <a:moveTo>
                    <a:pt x="0" y="1833753"/>
                  </a:moveTo>
                  <a:cubicBezTo>
                    <a:pt x="0" y="821055"/>
                    <a:pt x="821055" y="0"/>
                    <a:pt x="1833753" y="0"/>
                  </a:cubicBezTo>
                  <a:lnTo>
                    <a:pt x="13011658" y="0"/>
                  </a:lnTo>
                  <a:cubicBezTo>
                    <a:pt x="14024483" y="0"/>
                    <a:pt x="14845412" y="821055"/>
                    <a:pt x="14845412" y="1833753"/>
                  </a:cubicBezTo>
                  <a:lnTo>
                    <a:pt x="14845412" y="9168765"/>
                  </a:lnTo>
                  <a:cubicBezTo>
                    <a:pt x="14845412" y="10181590"/>
                    <a:pt x="14024356" y="11002518"/>
                    <a:pt x="13011658" y="11002518"/>
                  </a:cubicBezTo>
                  <a:lnTo>
                    <a:pt x="1833753" y="11002518"/>
                  </a:lnTo>
                  <a:cubicBezTo>
                    <a:pt x="821055" y="11002518"/>
                    <a:pt x="0" y="10181590"/>
                    <a:pt x="0" y="9168765"/>
                  </a:cubicBezTo>
                  <a:close/>
                </a:path>
              </a:pathLst>
            </a:custGeom>
            <a:blipFill>
              <a:blip r:embed="rId2"/>
              <a:stretch>
                <a:fillRect l="-15879" t="0" r="-15879" b="0"/>
              </a:stretch>
            </a:blipFill>
          </p:spPr>
        </p:sp>
      </p:grpSp>
      <p:grpSp>
        <p:nvGrpSpPr>
          <p:cNvPr name="Group 7" id="7"/>
          <p:cNvGrpSpPr/>
          <p:nvPr/>
        </p:nvGrpSpPr>
        <p:grpSpPr>
          <a:xfrm rot="0">
            <a:off x="457200" y="5876402"/>
            <a:ext cx="14153760" cy="3751920"/>
            <a:chOff x="0" y="0"/>
            <a:chExt cx="18871680" cy="5002560"/>
          </a:xfrm>
        </p:grpSpPr>
        <p:sp>
          <p:nvSpPr>
            <p:cNvPr name="Freeform 8" id="8"/>
            <p:cNvSpPr/>
            <p:nvPr/>
          </p:nvSpPr>
          <p:spPr>
            <a:xfrm flipH="false" flipV="false" rot="0">
              <a:off x="0" y="0"/>
              <a:ext cx="18871681" cy="5002560"/>
            </a:xfrm>
            <a:custGeom>
              <a:avLst/>
              <a:gdLst/>
              <a:ahLst/>
              <a:cxnLst/>
              <a:rect r="r" b="b" t="t" l="l"/>
              <a:pathLst>
                <a:path h="5002560" w="18871681">
                  <a:moveTo>
                    <a:pt x="0" y="0"/>
                  </a:moveTo>
                  <a:lnTo>
                    <a:pt x="18871681" y="0"/>
                  </a:lnTo>
                  <a:lnTo>
                    <a:pt x="18871681" y="5002560"/>
                  </a:lnTo>
                  <a:lnTo>
                    <a:pt x="0" y="5002560"/>
                  </a:lnTo>
                  <a:close/>
                </a:path>
              </a:pathLst>
            </a:custGeom>
            <a:solidFill>
              <a:srgbClr val="000000">
                <a:alpha val="0"/>
              </a:srgbClr>
            </a:solidFill>
          </p:spPr>
        </p:sp>
        <p:sp>
          <p:nvSpPr>
            <p:cNvPr name="TextBox 9" id="9"/>
            <p:cNvSpPr txBox="true"/>
            <p:nvPr/>
          </p:nvSpPr>
          <p:spPr>
            <a:xfrm>
              <a:off x="0" y="-38100"/>
              <a:ext cx="18871680" cy="5040660"/>
            </a:xfrm>
            <a:prstGeom prst="rect">
              <a:avLst/>
            </a:prstGeom>
          </p:spPr>
          <p:txBody>
            <a:bodyPr anchor="b" rtlCol="false" tIns="0" lIns="0" bIns="0" rIns="0"/>
            <a:lstStyle/>
            <a:p>
              <a:pPr algn="l">
                <a:lnSpc>
                  <a:spcPts val="11040"/>
                </a:lnSpc>
              </a:pPr>
              <a:r>
                <a:rPr lang="en-US" sz="9200" b="true">
                  <a:solidFill>
                    <a:srgbClr val="FFFFFF"/>
                  </a:solidFill>
                  <a:latin typeface="Arimo Bold"/>
                  <a:ea typeface="Arimo Bold"/>
                  <a:cs typeface="Arimo Bold"/>
                  <a:sym typeface="Arimo Bold"/>
                </a:rPr>
                <a:t>Netflix EDA Project</a:t>
              </a:r>
            </a:p>
            <a:p>
              <a:pPr algn="l">
                <a:lnSpc>
                  <a:spcPts val="11040"/>
                </a:lnSpc>
              </a:pPr>
              <a:r>
                <a:rPr lang="en-US" sz="9200" b="true">
                  <a:solidFill>
                    <a:srgbClr val="FFFFFF"/>
                  </a:solidFill>
                  <a:latin typeface="Arimo Bold"/>
                  <a:ea typeface="Arimo Bold"/>
                  <a:cs typeface="Arimo Bold"/>
                  <a:sym typeface="Arimo Bold"/>
                </a:rPr>
                <a:t> Overview</a:t>
              </a:r>
            </a:p>
          </p:txBody>
        </p:sp>
      </p:grpSp>
      <p:grpSp>
        <p:nvGrpSpPr>
          <p:cNvPr name="Group 10" id="10"/>
          <p:cNvGrpSpPr/>
          <p:nvPr/>
        </p:nvGrpSpPr>
        <p:grpSpPr>
          <a:xfrm rot="0">
            <a:off x="457200" y="838080"/>
            <a:ext cx="2685600" cy="1675440"/>
            <a:chOff x="0" y="0"/>
            <a:chExt cx="3580800" cy="2233920"/>
          </a:xfrm>
        </p:grpSpPr>
        <p:sp>
          <p:nvSpPr>
            <p:cNvPr name="Freeform 11" id="11"/>
            <p:cNvSpPr/>
            <p:nvPr/>
          </p:nvSpPr>
          <p:spPr>
            <a:xfrm flipH="false" flipV="false" rot="0">
              <a:off x="0" y="0"/>
              <a:ext cx="3580800" cy="2233920"/>
            </a:xfrm>
            <a:custGeom>
              <a:avLst/>
              <a:gdLst/>
              <a:ahLst/>
              <a:cxnLst/>
              <a:rect r="r" b="b" t="t" l="l"/>
              <a:pathLst>
                <a:path h="2233920" w="3580800">
                  <a:moveTo>
                    <a:pt x="0" y="0"/>
                  </a:moveTo>
                  <a:lnTo>
                    <a:pt x="3580800" y="0"/>
                  </a:lnTo>
                  <a:lnTo>
                    <a:pt x="3580800" y="2233920"/>
                  </a:lnTo>
                  <a:lnTo>
                    <a:pt x="0" y="2233920"/>
                  </a:lnTo>
                  <a:close/>
                </a:path>
              </a:pathLst>
            </a:custGeom>
            <a:solidFill>
              <a:srgbClr val="000000">
                <a:alpha val="0"/>
              </a:srgbClr>
            </a:solidFill>
          </p:spPr>
        </p:sp>
        <p:sp>
          <p:nvSpPr>
            <p:cNvPr name="TextBox 12" id="12"/>
            <p:cNvSpPr txBox="true"/>
            <p:nvPr/>
          </p:nvSpPr>
          <p:spPr>
            <a:xfrm>
              <a:off x="0" y="19050"/>
              <a:ext cx="3580800" cy="2214870"/>
            </a:xfrm>
            <a:prstGeom prst="rect">
              <a:avLst/>
            </a:prstGeom>
          </p:spPr>
          <p:txBody>
            <a:bodyPr anchor="ctr" rtlCol="false" tIns="0" lIns="0" bIns="0" rIns="0"/>
            <a:lstStyle/>
            <a:p>
              <a:pPr algn="l">
                <a:lnSpc>
                  <a:spcPts val="9792"/>
                </a:lnSpc>
              </a:pPr>
              <a:r>
                <a:rPr lang="en-US" sz="10200">
                  <a:solidFill>
                    <a:srgbClr val="F1C572"/>
                  </a:solidFill>
                  <a:latin typeface="Calibri (MS)"/>
                  <a:ea typeface="Calibri (MS)"/>
                  <a:cs typeface="Calibri (MS)"/>
                  <a:sym typeface="Calibri (MS)"/>
                </a:rPr>
                <a:t>01</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68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4" id="4"/>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316635" y="316635"/>
            <a:ext cx="287619" cy="301051"/>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7" id="7"/>
          <p:cNvGrpSpPr/>
          <p:nvPr/>
        </p:nvGrpSpPr>
        <p:grpSpPr>
          <a:xfrm rot="0">
            <a:off x="457200" y="6134400"/>
            <a:ext cx="6310538" cy="3713760"/>
            <a:chOff x="0" y="0"/>
            <a:chExt cx="8414051" cy="4951680"/>
          </a:xfrm>
        </p:grpSpPr>
        <p:sp>
          <p:nvSpPr>
            <p:cNvPr name="Freeform 8" id="8"/>
            <p:cNvSpPr/>
            <p:nvPr/>
          </p:nvSpPr>
          <p:spPr>
            <a:xfrm flipH="false" flipV="false" rot="0">
              <a:off x="0" y="0"/>
              <a:ext cx="8414051" cy="4951680"/>
            </a:xfrm>
            <a:custGeom>
              <a:avLst/>
              <a:gdLst/>
              <a:ahLst/>
              <a:cxnLst/>
              <a:rect r="r" b="b" t="t" l="l"/>
              <a:pathLst>
                <a:path h="4951680" w="8414051">
                  <a:moveTo>
                    <a:pt x="0" y="0"/>
                  </a:moveTo>
                  <a:lnTo>
                    <a:pt x="8414051" y="0"/>
                  </a:lnTo>
                  <a:lnTo>
                    <a:pt x="8414051" y="4951680"/>
                  </a:lnTo>
                  <a:lnTo>
                    <a:pt x="0" y="4951680"/>
                  </a:lnTo>
                  <a:close/>
                </a:path>
              </a:pathLst>
            </a:custGeom>
            <a:solidFill>
              <a:srgbClr val="000000">
                <a:alpha val="0"/>
              </a:srgbClr>
            </a:solidFill>
          </p:spPr>
        </p:sp>
        <p:sp>
          <p:nvSpPr>
            <p:cNvPr name="TextBox 9" id="9"/>
            <p:cNvSpPr txBox="true"/>
            <p:nvPr/>
          </p:nvSpPr>
          <p:spPr>
            <a:xfrm>
              <a:off x="0" y="19050"/>
              <a:ext cx="8414051" cy="4932630"/>
            </a:xfrm>
            <a:prstGeom prst="rect">
              <a:avLst/>
            </a:prstGeom>
          </p:spPr>
          <p:txBody>
            <a:bodyPr anchor="b" rtlCol="false" tIns="0" lIns="0" bIns="0" rIns="0"/>
            <a:lstStyle/>
            <a:p>
              <a:pPr algn="l" marL="0" indent="0" lvl="0">
                <a:lnSpc>
                  <a:spcPts val="3888"/>
                </a:lnSpc>
                <a:spcBef>
                  <a:spcPct val="0"/>
                </a:spcBef>
              </a:pPr>
              <a:r>
                <a:rPr lang="en-US" sz="3599" strike="noStrike" u="none">
                  <a:solidFill>
                    <a:srgbClr val="FFFFFF"/>
                  </a:solidFill>
                  <a:latin typeface="Arimo"/>
                  <a:ea typeface="Arimo"/>
                  <a:cs typeface="Arimo"/>
                  <a:sym typeface="Arimo"/>
                </a:rPr>
                <a:t>Project Objectives and Scope</a:t>
              </a:r>
            </a:p>
          </p:txBody>
        </p:sp>
      </p:grpSp>
      <p:sp>
        <p:nvSpPr>
          <p:cNvPr name="TextBox 10" id="10"/>
          <p:cNvSpPr txBox="true"/>
          <p:nvPr/>
        </p:nvSpPr>
        <p:spPr>
          <a:xfrm rot="0">
            <a:off x="8359200" y="1101120"/>
            <a:ext cx="9379440" cy="5131200"/>
          </a:xfrm>
          <a:prstGeom prst="rect">
            <a:avLst/>
          </a:prstGeom>
        </p:spPr>
        <p:txBody>
          <a:bodyPr anchor="t" rtlCol="false" tIns="0" lIns="0" bIns="0" rIns="0">
            <a:spAutoFit/>
          </a:bodyPr>
          <a:lstStyle/>
          <a:p>
            <a:pPr algn="l">
              <a:lnSpc>
                <a:spcPts val="4320"/>
              </a:lnSpc>
            </a:pPr>
            <a:r>
              <a:rPr lang="en-US" sz="2400">
                <a:solidFill>
                  <a:srgbClr val="FFFFFF"/>
                </a:solidFill>
                <a:latin typeface="Arimo"/>
                <a:ea typeface="Arimo"/>
                <a:cs typeface="Arimo"/>
                <a:sym typeface="Arimo"/>
              </a:rPr>
              <a:t>The main objectives are to analyze Netflix content trends over the years, examine relationships between popularity and vote counts, and identify content types released by Netflix. This helps in understanding viewer preferences and content strategy evolution. The scope includes data cleaning, visualization, and interpretation to drive actionable insights for content recommendation and investment decisions.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68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4" id="4"/>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316635" y="316635"/>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7" id="7"/>
          <p:cNvGrpSpPr/>
          <p:nvPr/>
        </p:nvGrpSpPr>
        <p:grpSpPr>
          <a:xfrm rot="0">
            <a:off x="455400" y="6000801"/>
            <a:ext cx="6800400" cy="3713760"/>
            <a:chOff x="0" y="0"/>
            <a:chExt cx="9067200" cy="4951680"/>
          </a:xfrm>
        </p:grpSpPr>
        <p:sp>
          <p:nvSpPr>
            <p:cNvPr name="Freeform 8" id="8"/>
            <p:cNvSpPr/>
            <p:nvPr/>
          </p:nvSpPr>
          <p:spPr>
            <a:xfrm flipH="false" flipV="false" rot="0">
              <a:off x="0" y="0"/>
              <a:ext cx="9067200" cy="4951680"/>
            </a:xfrm>
            <a:custGeom>
              <a:avLst/>
              <a:gdLst/>
              <a:ahLst/>
              <a:cxnLst/>
              <a:rect r="r" b="b" t="t" l="l"/>
              <a:pathLst>
                <a:path h="4951680" w="9067200">
                  <a:moveTo>
                    <a:pt x="0" y="0"/>
                  </a:moveTo>
                  <a:lnTo>
                    <a:pt x="9067200" y="0"/>
                  </a:lnTo>
                  <a:lnTo>
                    <a:pt x="9067200" y="4951680"/>
                  </a:lnTo>
                  <a:lnTo>
                    <a:pt x="0" y="4951680"/>
                  </a:lnTo>
                  <a:close/>
                </a:path>
              </a:pathLst>
            </a:custGeom>
            <a:solidFill>
              <a:srgbClr val="000000">
                <a:alpha val="0"/>
              </a:srgbClr>
            </a:solidFill>
          </p:spPr>
        </p:sp>
        <p:sp>
          <p:nvSpPr>
            <p:cNvPr name="TextBox 9" id="9"/>
            <p:cNvSpPr txBox="true"/>
            <p:nvPr/>
          </p:nvSpPr>
          <p:spPr>
            <a:xfrm>
              <a:off x="0" y="-19050"/>
              <a:ext cx="9067200" cy="4970730"/>
            </a:xfrm>
            <a:prstGeom prst="rect">
              <a:avLst/>
            </a:prstGeom>
          </p:spPr>
          <p:txBody>
            <a:bodyPr anchor="b" rtlCol="false" tIns="0" lIns="0" bIns="0" rIns="0"/>
            <a:lstStyle/>
            <a:p>
              <a:pPr algn="l">
                <a:lnSpc>
                  <a:spcPts val="6240"/>
                </a:lnSpc>
              </a:pPr>
              <a:r>
                <a:rPr lang="en-US" sz="5200" b="true">
                  <a:solidFill>
                    <a:srgbClr val="FFFFFF"/>
                  </a:solidFill>
                  <a:latin typeface="Arimo Bold"/>
                  <a:ea typeface="Arimo Bold"/>
                  <a:cs typeface="Arimo Bold"/>
                  <a:sym typeface="Arimo Bold"/>
                </a:rPr>
                <a:t>Tools and Technologies Used</a:t>
              </a:r>
            </a:p>
          </p:txBody>
        </p:sp>
      </p:grpSp>
      <p:sp>
        <p:nvSpPr>
          <p:cNvPr name="TextBox 10" id="10"/>
          <p:cNvSpPr txBox="true"/>
          <p:nvPr/>
        </p:nvSpPr>
        <p:spPr>
          <a:xfrm rot="0">
            <a:off x="8359200" y="1101120"/>
            <a:ext cx="9379440" cy="5131200"/>
          </a:xfrm>
          <a:prstGeom prst="rect">
            <a:avLst/>
          </a:prstGeom>
        </p:spPr>
        <p:txBody>
          <a:bodyPr anchor="t" rtlCol="false" tIns="0" lIns="0" bIns="0" rIns="0">
            <a:spAutoFit/>
          </a:bodyPr>
          <a:lstStyle/>
          <a:p>
            <a:pPr algn="l">
              <a:lnSpc>
                <a:spcPts val="4320"/>
              </a:lnSpc>
            </a:pPr>
            <a:r>
              <a:rPr lang="en-US" sz="2400">
                <a:solidFill>
                  <a:srgbClr val="FFFFFF"/>
                </a:solidFill>
                <a:latin typeface="Arimo"/>
                <a:ea typeface="Arimo"/>
                <a:cs typeface="Arimo"/>
                <a:sym typeface="Arimo"/>
              </a:rPr>
              <a:t>The project utilized </a:t>
            </a:r>
            <a:r>
              <a:rPr lang="en-US" sz="2400" b="true">
                <a:solidFill>
                  <a:srgbClr val="FFFFFF"/>
                </a:solidFill>
                <a:latin typeface="Arimo Bold"/>
                <a:ea typeface="Arimo Bold"/>
                <a:cs typeface="Arimo Bold"/>
                <a:sym typeface="Arimo Bold"/>
              </a:rPr>
              <a:t>Python</a:t>
            </a:r>
            <a:r>
              <a:rPr lang="en-US" sz="2400">
                <a:solidFill>
                  <a:srgbClr val="FFFFFF"/>
                </a:solidFill>
                <a:latin typeface="Arimo"/>
                <a:ea typeface="Arimo"/>
                <a:cs typeface="Arimo"/>
                <a:sym typeface="Arimo"/>
              </a:rPr>
              <a:t> and </a:t>
            </a:r>
            <a:r>
              <a:rPr lang="en-US" sz="2400" b="true">
                <a:solidFill>
                  <a:srgbClr val="FFFFFF"/>
                </a:solidFill>
                <a:latin typeface="Arimo Bold"/>
                <a:ea typeface="Arimo Bold"/>
                <a:cs typeface="Arimo Bold"/>
                <a:sym typeface="Arimo Bold"/>
              </a:rPr>
              <a:t>Jupyter Notebook</a:t>
            </a:r>
            <a:r>
              <a:rPr lang="en-US" sz="2400">
                <a:solidFill>
                  <a:srgbClr val="FFFFFF"/>
                </a:solidFill>
                <a:latin typeface="Arimo"/>
                <a:ea typeface="Arimo"/>
                <a:cs typeface="Arimo"/>
                <a:sym typeface="Arimo"/>
              </a:rPr>
              <a:t> as the primary development environment. Key libraries included </a:t>
            </a:r>
            <a:r>
              <a:rPr lang="en-US" sz="2400" i="true">
                <a:solidFill>
                  <a:srgbClr val="FFFFFF"/>
                </a:solidFill>
                <a:latin typeface="Arimo Italics"/>
                <a:ea typeface="Arimo Italics"/>
                <a:cs typeface="Arimo Italics"/>
                <a:sym typeface="Arimo Italics"/>
              </a:rPr>
              <a:t>Pandas</a:t>
            </a:r>
            <a:r>
              <a:rPr lang="en-US" sz="2400">
                <a:solidFill>
                  <a:srgbClr val="FFFFFF"/>
                </a:solidFill>
                <a:latin typeface="Arimo"/>
                <a:ea typeface="Arimo"/>
                <a:cs typeface="Arimo"/>
                <a:sym typeface="Arimo"/>
              </a:rPr>
              <a:t> for data cleaning and manipulation, </a:t>
            </a:r>
            <a:r>
              <a:rPr lang="en-US" sz="2400" i="true">
                <a:solidFill>
                  <a:srgbClr val="FFFFFF"/>
                </a:solidFill>
                <a:latin typeface="Arimo Italics"/>
                <a:ea typeface="Arimo Italics"/>
                <a:cs typeface="Arimo Italics"/>
                <a:sym typeface="Arimo Italics"/>
              </a:rPr>
              <a:t>NumPy</a:t>
            </a:r>
            <a:r>
              <a:rPr lang="en-US" sz="2400">
                <a:solidFill>
                  <a:srgbClr val="FFFFFF"/>
                </a:solidFill>
                <a:latin typeface="Arimo"/>
                <a:ea typeface="Arimo"/>
                <a:cs typeface="Arimo"/>
                <a:sym typeface="Arimo"/>
              </a:rPr>
              <a:t> for numerical operations, and </a:t>
            </a:r>
            <a:r>
              <a:rPr lang="en-US" sz="2400" i="true">
                <a:solidFill>
                  <a:srgbClr val="FFFFFF"/>
                </a:solidFill>
                <a:latin typeface="Arimo Italics"/>
                <a:ea typeface="Arimo Italics"/>
                <a:cs typeface="Arimo Italics"/>
                <a:sym typeface="Arimo Italics"/>
              </a:rPr>
              <a:t>Matplotlib</a:t>
            </a:r>
            <a:r>
              <a:rPr lang="en-US" sz="2400">
                <a:solidFill>
                  <a:srgbClr val="FFFFFF"/>
                </a:solidFill>
                <a:latin typeface="Arimo"/>
                <a:ea typeface="Arimo"/>
                <a:cs typeface="Arimo"/>
                <a:sym typeface="Arimo"/>
              </a:rPr>
              <a:t> and </a:t>
            </a:r>
            <a:r>
              <a:rPr lang="en-US" sz="2400" i="true">
                <a:solidFill>
                  <a:srgbClr val="FFFFFF"/>
                </a:solidFill>
                <a:latin typeface="Arimo Italics"/>
                <a:ea typeface="Arimo Italics"/>
                <a:cs typeface="Arimo Italics"/>
                <a:sym typeface="Arimo Italics"/>
              </a:rPr>
              <a:t>Seaborn</a:t>
            </a:r>
            <a:r>
              <a:rPr lang="en-US" sz="2400">
                <a:solidFill>
                  <a:srgbClr val="FFFFFF"/>
                </a:solidFill>
                <a:latin typeface="Arimo"/>
                <a:ea typeface="Arimo"/>
                <a:cs typeface="Arimo"/>
                <a:sym typeface="Arimo"/>
              </a:rPr>
              <a:t> for producing visualizations. The analysis was performed on a cleaned Netflix movies dataset to ensure accurate insights.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sp>
        <p:nvSpPr>
          <p:cNvPr name="AutoShape 2" id="2"/>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3" id="3"/>
          <p:cNvGrpSpPr/>
          <p:nvPr/>
        </p:nvGrpSpPr>
        <p:grpSpPr>
          <a:xfrm rot="0">
            <a:off x="316635" y="316635"/>
            <a:ext cx="277530" cy="290490"/>
            <a:chOff x="0" y="0"/>
            <a:chExt cx="370040" cy="387320"/>
          </a:xfrm>
        </p:grpSpPr>
        <p:sp>
          <p:nvSpPr>
            <p:cNvPr name="Freeform 4" id="4"/>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5" id="5"/>
          <p:cNvGrpSpPr/>
          <p:nvPr/>
        </p:nvGrpSpPr>
        <p:grpSpPr>
          <a:xfrm rot="0">
            <a:off x="17696151" y="312233"/>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7" id="7"/>
          <p:cNvGrpSpPr/>
          <p:nvPr/>
        </p:nvGrpSpPr>
        <p:grpSpPr>
          <a:xfrm rot="0">
            <a:off x="455400" y="312233"/>
            <a:ext cx="2685600" cy="2051983"/>
            <a:chOff x="0" y="0"/>
            <a:chExt cx="3580800" cy="2735978"/>
          </a:xfrm>
        </p:grpSpPr>
        <p:sp>
          <p:nvSpPr>
            <p:cNvPr name="Freeform 8" id="8"/>
            <p:cNvSpPr/>
            <p:nvPr/>
          </p:nvSpPr>
          <p:spPr>
            <a:xfrm flipH="false" flipV="false" rot="0">
              <a:off x="0" y="0"/>
              <a:ext cx="3580800" cy="2735978"/>
            </a:xfrm>
            <a:custGeom>
              <a:avLst/>
              <a:gdLst/>
              <a:ahLst/>
              <a:cxnLst/>
              <a:rect r="r" b="b" t="t" l="l"/>
              <a:pathLst>
                <a:path h="2735978" w="3580800">
                  <a:moveTo>
                    <a:pt x="0" y="0"/>
                  </a:moveTo>
                  <a:lnTo>
                    <a:pt x="3580800" y="0"/>
                  </a:lnTo>
                  <a:lnTo>
                    <a:pt x="3580800" y="2735978"/>
                  </a:lnTo>
                  <a:lnTo>
                    <a:pt x="0" y="2735978"/>
                  </a:lnTo>
                  <a:close/>
                </a:path>
              </a:pathLst>
            </a:custGeom>
            <a:solidFill>
              <a:srgbClr val="000000">
                <a:alpha val="0"/>
              </a:srgbClr>
            </a:solidFill>
          </p:spPr>
        </p:sp>
        <p:sp>
          <p:nvSpPr>
            <p:cNvPr name="TextBox 9" id="9"/>
            <p:cNvSpPr txBox="true"/>
            <p:nvPr/>
          </p:nvSpPr>
          <p:spPr>
            <a:xfrm>
              <a:off x="0" y="19050"/>
              <a:ext cx="3580800" cy="2716928"/>
            </a:xfrm>
            <a:prstGeom prst="rect">
              <a:avLst/>
            </a:prstGeom>
          </p:spPr>
          <p:txBody>
            <a:bodyPr anchor="ctr" rtlCol="false" tIns="0" lIns="0" bIns="0" rIns="0"/>
            <a:lstStyle/>
            <a:p>
              <a:pPr algn="l">
                <a:lnSpc>
                  <a:spcPts val="9792"/>
                </a:lnSpc>
              </a:pPr>
              <a:r>
                <a:rPr lang="en-US" sz="10200">
                  <a:solidFill>
                    <a:srgbClr val="F1C572"/>
                  </a:solidFill>
                  <a:latin typeface="Calibri (MS)"/>
                  <a:ea typeface="Calibri (MS)"/>
                  <a:cs typeface="Calibri (MS)"/>
                  <a:sym typeface="Calibri (MS)"/>
                </a:rPr>
                <a:t>02</a:t>
              </a:r>
            </a:p>
          </p:txBody>
        </p:sp>
      </p:grpSp>
      <p:sp>
        <p:nvSpPr>
          <p:cNvPr name="Freeform 10" id="10"/>
          <p:cNvSpPr/>
          <p:nvPr/>
        </p:nvSpPr>
        <p:spPr>
          <a:xfrm flipH="false" flipV="false" rot="0">
            <a:off x="455400" y="1738011"/>
            <a:ext cx="14975629" cy="6235337"/>
          </a:xfrm>
          <a:custGeom>
            <a:avLst/>
            <a:gdLst/>
            <a:ahLst/>
            <a:cxnLst/>
            <a:rect r="r" b="b" t="t" l="l"/>
            <a:pathLst>
              <a:path h="6235337" w="14975629">
                <a:moveTo>
                  <a:pt x="0" y="0"/>
                </a:moveTo>
                <a:lnTo>
                  <a:pt x="14975629" y="0"/>
                </a:lnTo>
                <a:lnTo>
                  <a:pt x="14975629" y="6235337"/>
                </a:lnTo>
                <a:lnTo>
                  <a:pt x="0" y="6235337"/>
                </a:lnTo>
                <a:lnTo>
                  <a:pt x="0" y="0"/>
                </a:lnTo>
                <a:close/>
              </a:path>
            </a:pathLst>
          </a:custGeom>
          <a:blipFill>
            <a:blip r:embed="rId2"/>
            <a:stretch>
              <a:fillRect l="0" t="-4039" r="0" b="-4039"/>
            </a:stretch>
          </a:blipFill>
        </p:spPr>
      </p:sp>
      <p:sp>
        <p:nvSpPr>
          <p:cNvPr name="TextBox 11" id="11"/>
          <p:cNvSpPr txBox="true"/>
          <p:nvPr/>
        </p:nvSpPr>
        <p:spPr>
          <a:xfrm rot="0">
            <a:off x="2500644" y="633701"/>
            <a:ext cx="15787356" cy="742950"/>
          </a:xfrm>
          <a:prstGeom prst="rect">
            <a:avLst/>
          </a:prstGeom>
        </p:spPr>
        <p:txBody>
          <a:bodyPr anchor="t" rtlCol="false" tIns="0" lIns="0" bIns="0" rIns="0">
            <a:spAutoFit/>
          </a:bodyPr>
          <a:lstStyle/>
          <a:p>
            <a:pPr algn="ctr">
              <a:lnSpc>
                <a:spcPts val="5640"/>
              </a:lnSpc>
              <a:spcBef>
                <a:spcPct val="0"/>
              </a:spcBef>
            </a:pPr>
            <a:r>
              <a:rPr lang="en-US" b="true" sz="4700">
                <a:solidFill>
                  <a:srgbClr val="FFFFFF"/>
                </a:solidFill>
                <a:latin typeface="Arimo Bold"/>
                <a:ea typeface="Arimo Bold"/>
                <a:cs typeface="Arimo Bold"/>
                <a:sym typeface="Arimo Bold"/>
              </a:rPr>
              <a:t>Project Working/Outputs</a:t>
            </a:r>
          </a:p>
        </p:txBody>
      </p:sp>
      <p:sp>
        <p:nvSpPr>
          <p:cNvPr name="TextBox 12" id="12"/>
          <p:cNvSpPr txBox="true"/>
          <p:nvPr/>
        </p:nvSpPr>
        <p:spPr>
          <a:xfrm rot="0">
            <a:off x="7030289" y="8135273"/>
            <a:ext cx="10841425" cy="1928599"/>
          </a:xfrm>
          <a:prstGeom prst="rect">
            <a:avLst/>
          </a:prstGeom>
        </p:spPr>
        <p:txBody>
          <a:bodyPr anchor="t" rtlCol="false" tIns="0" lIns="0" bIns="0" rIns="0">
            <a:spAutoFit/>
          </a:bodyPr>
          <a:lstStyle/>
          <a:p>
            <a:pPr algn="ctr">
              <a:lnSpc>
                <a:spcPts val="2506"/>
              </a:lnSpc>
              <a:spcBef>
                <a:spcPct val="0"/>
              </a:spcBef>
            </a:pPr>
            <a:r>
              <a:rPr lang="en-US" b="true" sz="2088">
                <a:solidFill>
                  <a:srgbClr val="FFFFFF"/>
                </a:solidFill>
                <a:latin typeface="Arimo Bold"/>
                <a:ea typeface="Arimo Bold"/>
                <a:cs typeface="Arimo Bold"/>
                <a:sym typeface="Arimo Bold"/>
              </a:rPr>
              <a:t>Content Trends Over the Years</a:t>
            </a:r>
          </a:p>
          <a:p>
            <a:pPr algn="ctr">
              <a:lnSpc>
                <a:spcPts val="2506"/>
              </a:lnSpc>
              <a:spcBef>
                <a:spcPct val="0"/>
              </a:spcBef>
            </a:pPr>
            <a:r>
              <a:rPr lang="en-US" b="true" sz="2088">
                <a:solidFill>
                  <a:srgbClr val="FFFFFF"/>
                </a:solidFill>
                <a:latin typeface="Arimo Bold"/>
                <a:ea typeface="Arimo Bold"/>
                <a:cs typeface="Arimo Bold"/>
                <a:sym typeface="Arimo Bold"/>
              </a:rPr>
              <a:t>Insights from the chart:</a:t>
            </a:r>
          </a:p>
          <a:p>
            <a:pPr algn="ctr">
              <a:lnSpc>
                <a:spcPts val="2506"/>
              </a:lnSpc>
              <a:spcBef>
                <a:spcPct val="0"/>
              </a:spcBef>
            </a:pPr>
            <a:r>
              <a:rPr lang="en-US" b="true" sz="2088">
                <a:solidFill>
                  <a:srgbClr val="FFFFFF"/>
                </a:solidFill>
                <a:latin typeface="Arimo Bold"/>
                <a:ea typeface="Arimo Bold"/>
                <a:cs typeface="Arimo Bold"/>
                <a:sym typeface="Arimo Bold"/>
              </a:rPr>
              <a:t>Number of movies released has grown dramatically, especially after 2000.</a:t>
            </a:r>
          </a:p>
          <a:p>
            <a:pPr algn="ctr">
              <a:lnSpc>
                <a:spcPts val="2506"/>
              </a:lnSpc>
              <a:spcBef>
                <a:spcPct val="0"/>
              </a:spcBef>
            </a:pPr>
            <a:r>
              <a:rPr lang="en-US" b="true" sz="2088">
                <a:solidFill>
                  <a:srgbClr val="FFFFFF"/>
                </a:solidFill>
                <a:latin typeface="Arimo Bold"/>
                <a:ea typeface="Arimo Bold"/>
                <a:cs typeface="Arimo Bold"/>
                <a:sym typeface="Arimo Bold"/>
              </a:rPr>
              <a:t>Sharp rise between 2015–2020, showing Netflix’s aggressive expansion.</a:t>
            </a:r>
          </a:p>
          <a:p>
            <a:pPr algn="ctr">
              <a:lnSpc>
                <a:spcPts val="2506"/>
              </a:lnSpc>
              <a:spcBef>
                <a:spcPct val="0"/>
              </a:spcBef>
            </a:pPr>
            <a:r>
              <a:rPr lang="en-US" b="true" sz="2088">
                <a:solidFill>
                  <a:srgbClr val="FFFFFF"/>
                </a:solidFill>
                <a:latin typeface="Arimo Bold"/>
                <a:ea typeface="Arimo Bold"/>
                <a:cs typeface="Arimo Bold"/>
                <a:sym typeface="Arimo Bold"/>
              </a:rPr>
              <a:t>Drop after 2021 due to dataset cutoff and post-pandemic slowdown.</a:t>
            </a:r>
          </a:p>
          <a:p>
            <a:pPr algn="ctr">
              <a:lnSpc>
                <a:spcPts val="2506"/>
              </a:lnSpc>
              <a:spcBef>
                <a:spcPct val="0"/>
              </a:spcBef>
            </a:pPr>
            <a:r>
              <a:rPr lang="en-US" b="true" sz="2088">
                <a:solidFill>
                  <a:srgbClr val="FFFFFF"/>
                </a:solidFill>
                <a:latin typeface="Arimo Bold"/>
                <a:ea typeface="Arimo Bold"/>
                <a:cs typeface="Arimo Bold"/>
                <a:sym typeface="Arimo Bold"/>
              </a:rPr>
              <a:t>Before 1950s, content production was extremely low.</a:t>
            </a:r>
          </a:p>
        </p:txBody>
      </p:sp>
      <p:grpSp>
        <p:nvGrpSpPr>
          <p:cNvPr name="Group 13" id="13"/>
          <p:cNvGrpSpPr/>
          <p:nvPr/>
        </p:nvGrpSpPr>
        <p:grpSpPr>
          <a:xfrm rot="0">
            <a:off x="7527502" y="9109098"/>
            <a:ext cx="277530" cy="290490"/>
            <a:chOff x="0" y="0"/>
            <a:chExt cx="370040" cy="387320"/>
          </a:xfrm>
        </p:grpSpPr>
        <p:sp>
          <p:nvSpPr>
            <p:cNvPr name="Freeform 14" id="14"/>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5" id="15"/>
          <p:cNvGrpSpPr/>
          <p:nvPr/>
        </p:nvGrpSpPr>
        <p:grpSpPr>
          <a:xfrm rot="0">
            <a:off x="7513867" y="8804336"/>
            <a:ext cx="291165" cy="304762"/>
            <a:chOff x="0" y="0"/>
            <a:chExt cx="370040" cy="387320"/>
          </a:xfrm>
        </p:grpSpPr>
        <p:sp>
          <p:nvSpPr>
            <p:cNvPr name="Freeform 16" id="1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7" id="17"/>
          <p:cNvGrpSpPr/>
          <p:nvPr/>
        </p:nvGrpSpPr>
        <p:grpSpPr>
          <a:xfrm rot="0">
            <a:off x="7804449" y="9399588"/>
            <a:ext cx="277530" cy="290490"/>
            <a:chOff x="0" y="0"/>
            <a:chExt cx="370040" cy="387320"/>
          </a:xfrm>
        </p:grpSpPr>
        <p:sp>
          <p:nvSpPr>
            <p:cNvPr name="Freeform 18" id="18"/>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9" id="19"/>
          <p:cNvGrpSpPr/>
          <p:nvPr/>
        </p:nvGrpSpPr>
        <p:grpSpPr>
          <a:xfrm rot="0">
            <a:off x="8707625" y="9773382"/>
            <a:ext cx="277530" cy="290490"/>
            <a:chOff x="0" y="0"/>
            <a:chExt cx="370040" cy="387320"/>
          </a:xfrm>
        </p:grpSpPr>
        <p:sp>
          <p:nvSpPr>
            <p:cNvPr name="Freeform 20" id="20"/>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595407" y="294369"/>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4" id="4"/>
          <p:cNvGrpSpPr/>
          <p:nvPr/>
        </p:nvGrpSpPr>
        <p:grpSpPr>
          <a:xfrm rot="0">
            <a:off x="361168" y="294369"/>
            <a:ext cx="277530" cy="290490"/>
            <a:chOff x="0" y="0"/>
            <a:chExt cx="370040" cy="387320"/>
          </a:xfrm>
        </p:grpSpPr>
        <p:sp>
          <p:nvSpPr>
            <p:cNvPr name="Freeform 5" id="5"/>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6" id="6"/>
          <p:cNvSpPr/>
          <p:nvPr/>
        </p:nvSpPr>
        <p:spPr>
          <a:xfrm rot="10795971">
            <a:off x="709029" y="462600"/>
            <a:ext cx="16872822" cy="0"/>
          </a:xfrm>
          <a:prstGeom prst="line">
            <a:avLst/>
          </a:prstGeom>
          <a:ln cap="rnd" w="9525">
            <a:solidFill>
              <a:srgbClr val="F1C572"/>
            </a:solidFill>
            <a:prstDash val="solid"/>
            <a:headEnd type="none" len="sm" w="sm"/>
            <a:tailEnd type="none" len="sm" w="sm"/>
          </a:ln>
        </p:spPr>
      </p:sp>
      <p:sp>
        <p:nvSpPr>
          <p:cNvPr name="TextBox 7" id="7"/>
          <p:cNvSpPr txBox="true"/>
          <p:nvPr/>
        </p:nvSpPr>
        <p:spPr>
          <a:xfrm rot="0">
            <a:off x="1480542" y="1019175"/>
            <a:ext cx="15326916" cy="2181225"/>
          </a:xfrm>
          <a:prstGeom prst="rect">
            <a:avLst/>
          </a:prstGeom>
        </p:spPr>
        <p:txBody>
          <a:bodyPr anchor="t" rtlCol="false" tIns="0" lIns="0" bIns="0" rIns="0">
            <a:spAutoFit/>
          </a:bodyPr>
          <a:lstStyle/>
          <a:p>
            <a:pPr algn="ctr">
              <a:lnSpc>
                <a:spcPts val="2880"/>
              </a:lnSpc>
              <a:spcBef>
                <a:spcPct val="0"/>
              </a:spcBef>
            </a:pPr>
            <a:r>
              <a:rPr lang="en-US" b="true" sz="2400">
                <a:solidFill>
                  <a:srgbClr val="FFFFFF"/>
                </a:solidFill>
                <a:latin typeface="Arimo Bold"/>
                <a:ea typeface="Arimo Bold"/>
                <a:cs typeface="Arimo Bold"/>
                <a:sym typeface="Arimo Bold"/>
              </a:rPr>
              <a:t>Vote Count vs Popularity Analysis</a:t>
            </a:r>
          </a:p>
          <a:p>
            <a:pPr algn="ctr">
              <a:lnSpc>
                <a:spcPts val="2880"/>
              </a:lnSpc>
              <a:spcBef>
                <a:spcPct val="0"/>
              </a:spcBef>
            </a:pPr>
            <a:r>
              <a:rPr lang="en-US" b="true" sz="2400">
                <a:solidFill>
                  <a:srgbClr val="FFFFFF"/>
                </a:solidFill>
                <a:latin typeface="Arimo Bold"/>
                <a:ea typeface="Arimo Bold"/>
                <a:cs typeface="Arimo Bold"/>
                <a:sym typeface="Arimo Bold"/>
              </a:rPr>
              <a:t>Insights from the chart:</a:t>
            </a:r>
          </a:p>
          <a:p>
            <a:pPr algn="ctr">
              <a:lnSpc>
                <a:spcPts val="2880"/>
              </a:lnSpc>
              <a:spcBef>
                <a:spcPct val="0"/>
              </a:spcBef>
            </a:pPr>
            <a:r>
              <a:rPr lang="en-US" b="true" sz="2400">
                <a:solidFill>
                  <a:srgbClr val="FFFFFF"/>
                </a:solidFill>
                <a:latin typeface="Arimo Bold"/>
                <a:ea typeface="Arimo Bold"/>
                <a:cs typeface="Arimo Bold"/>
                <a:sym typeface="Arimo Bold"/>
              </a:rPr>
              <a:t>Movies with very high popularity are not necessarily the ones with the highest vote counts.</a:t>
            </a:r>
          </a:p>
          <a:p>
            <a:pPr algn="ctr">
              <a:lnSpc>
                <a:spcPts val="2880"/>
              </a:lnSpc>
              <a:spcBef>
                <a:spcPct val="0"/>
              </a:spcBef>
            </a:pPr>
            <a:r>
              <a:rPr lang="en-US" b="true" sz="2400">
                <a:solidFill>
                  <a:srgbClr val="FFFFFF"/>
                </a:solidFill>
                <a:latin typeface="Arimo Bold"/>
                <a:ea typeface="Arimo Bold"/>
                <a:cs typeface="Arimo Bold"/>
                <a:sym typeface="Arimo Bold"/>
              </a:rPr>
              <a:t>Most movies cluster near low popularity and low vote count, meaning only a few titles dominate attention.</a:t>
            </a:r>
          </a:p>
          <a:p>
            <a:pPr algn="ctr">
              <a:lnSpc>
                <a:spcPts val="2880"/>
              </a:lnSpc>
              <a:spcBef>
                <a:spcPct val="0"/>
              </a:spcBef>
            </a:pPr>
            <a:r>
              <a:rPr lang="en-US" b="true" sz="2400">
                <a:solidFill>
                  <a:srgbClr val="FFFFFF"/>
                </a:solidFill>
                <a:latin typeface="Arimo Bold"/>
                <a:ea typeface="Arimo Bold"/>
                <a:cs typeface="Arimo Bold"/>
                <a:sym typeface="Arimo Bold"/>
              </a:rPr>
              <a:t>A few outliers show extremely high popularity despite moderate votes.</a:t>
            </a:r>
          </a:p>
          <a:p>
            <a:pPr algn="ctr">
              <a:lnSpc>
                <a:spcPts val="2880"/>
              </a:lnSpc>
              <a:spcBef>
                <a:spcPct val="0"/>
              </a:spcBef>
            </a:pPr>
            <a:r>
              <a:rPr lang="en-US" b="true" sz="2400">
                <a:solidFill>
                  <a:srgbClr val="FFFFFF"/>
                </a:solidFill>
                <a:latin typeface="Arimo Bold"/>
                <a:ea typeface="Arimo Bold"/>
                <a:cs typeface="Arimo Bold"/>
                <a:sym typeface="Arimo Bold"/>
              </a:rPr>
              <a:t>Relationship is weak → popularity depends on factors beyond votes (marketing, genre, timing).</a:t>
            </a:r>
          </a:p>
        </p:txBody>
      </p:sp>
      <p:grpSp>
        <p:nvGrpSpPr>
          <p:cNvPr name="Group 8" id="8"/>
          <p:cNvGrpSpPr/>
          <p:nvPr/>
        </p:nvGrpSpPr>
        <p:grpSpPr>
          <a:xfrm rot="0">
            <a:off x="7041106" y="1385425"/>
            <a:ext cx="277530" cy="290490"/>
            <a:chOff x="0" y="0"/>
            <a:chExt cx="370040" cy="387320"/>
          </a:xfrm>
        </p:grpSpPr>
        <p:sp>
          <p:nvSpPr>
            <p:cNvPr name="Freeform 9" id="9"/>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0" id="10"/>
          <p:cNvGrpSpPr/>
          <p:nvPr/>
        </p:nvGrpSpPr>
        <p:grpSpPr>
          <a:xfrm rot="0">
            <a:off x="2097952" y="1675915"/>
            <a:ext cx="277530" cy="290490"/>
            <a:chOff x="0" y="0"/>
            <a:chExt cx="370040" cy="387320"/>
          </a:xfrm>
        </p:grpSpPr>
        <p:sp>
          <p:nvSpPr>
            <p:cNvPr name="Freeform 11" id="11"/>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2" id="12"/>
          <p:cNvGrpSpPr/>
          <p:nvPr/>
        </p:nvGrpSpPr>
        <p:grpSpPr>
          <a:xfrm rot="0">
            <a:off x="1028700" y="2114550"/>
            <a:ext cx="277530" cy="290490"/>
            <a:chOff x="0" y="0"/>
            <a:chExt cx="370040" cy="387320"/>
          </a:xfrm>
        </p:grpSpPr>
        <p:sp>
          <p:nvSpPr>
            <p:cNvPr name="Freeform 13" id="1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4" id="14"/>
          <p:cNvGrpSpPr/>
          <p:nvPr/>
        </p:nvGrpSpPr>
        <p:grpSpPr>
          <a:xfrm rot="0">
            <a:off x="1820422" y="2909910"/>
            <a:ext cx="277530" cy="290490"/>
            <a:chOff x="0" y="0"/>
            <a:chExt cx="370040" cy="387320"/>
          </a:xfrm>
        </p:grpSpPr>
        <p:sp>
          <p:nvSpPr>
            <p:cNvPr name="Freeform 15" id="15"/>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16" id="16"/>
          <p:cNvGrpSpPr/>
          <p:nvPr/>
        </p:nvGrpSpPr>
        <p:grpSpPr>
          <a:xfrm rot="0">
            <a:off x="3600554" y="2405040"/>
            <a:ext cx="374648" cy="392143"/>
            <a:chOff x="0" y="0"/>
            <a:chExt cx="370040" cy="387320"/>
          </a:xfrm>
        </p:grpSpPr>
        <p:sp>
          <p:nvSpPr>
            <p:cNvPr name="Freeform 17" id="17"/>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Freeform 18" id="18"/>
          <p:cNvSpPr/>
          <p:nvPr/>
        </p:nvSpPr>
        <p:spPr>
          <a:xfrm flipH="false" flipV="false" rot="0">
            <a:off x="709035" y="3352800"/>
            <a:ext cx="11770108" cy="6771125"/>
          </a:xfrm>
          <a:custGeom>
            <a:avLst/>
            <a:gdLst/>
            <a:ahLst/>
            <a:cxnLst/>
            <a:rect r="r" b="b" t="t" l="l"/>
            <a:pathLst>
              <a:path h="6771125" w="11770108">
                <a:moveTo>
                  <a:pt x="0" y="0"/>
                </a:moveTo>
                <a:lnTo>
                  <a:pt x="11770108" y="0"/>
                </a:lnTo>
                <a:lnTo>
                  <a:pt x="11770108" y="6771125"/>
                </a:lnTo>
                <a:lnTo>
                  <a:pt x="0" y="6771125"/>
                </a:lnTo>
                <a:lnTo>
                  <a:pt x="0" y="0"/>
                </a:lnTo>
                <a:close/>
              </a:path>
            </a:pathLst>
          </a:custGeom>
          <a:blipFill>
            <a:blip r:embed="rId2"/>
            <a:stretch>
              <a:fillRect l="0" t="-1713" r="0" b="-1713"/>
            </a:stretch>
          </a:blipFill>
        </p:spPr>
      </p:sp>
      <p:sp>
        <p:nvSpPr>
          <p:cNvPr name="TextBox 19" id="19"/>
          <p:cNvSpPr txBox="true"/>
          <p:nvPr/>
        </p:nvSpPr>
        <p:spPr>
          <a:xfrm rot="0">
            <a:off x="12701562" y="7419098"/>
            <a:ext cx="5171375" cy="1123950"/>
          </a:xfrm>
          <a:prstGeom prst="rect">
            <a:avLst/>
          </a:prstGeom>
        </p:spPr>
        <p:txBody>
          <a:bodyPr anchor="t" rtlCol="false" tIns="0" lIns="0" bIns="0" rIns="0">
            <a:spAutoFit/>
          </a:bodyPr>
          <a:lstStyle/>
          <a:p>
            <a:pPr algn="ctr">
              <a:lnSpc>
                <a:spcPts val="2999"/>
              </a:lnSpc>
              <a:spcBef>
                <a:spcPct val="0"/>
              </a:spcBef>
            </a:pPr>
            <a:r>
              <a:rPr lang="en-US" b="true" sz="2499">
                <a:solidFill>
                  <a:srgbClr val="FFFFFF"/>
                </a:solidFill>
                <a:latin typeface="Arimo Bold"/>
                <a:ea typeface="Arimo Bold"/>
                <a:cs typeface="Arimo Bold"/>
                <a:sym typeface="Arimo Bold"/>
              </a:rPr>
              <a:t>plt.figure(figsize=(10,6))</a:t>
            </a:r>
          </a:p>
          <a:p>
            <a:pPr algn="ctr">
              <a:lnSpc>
                <a:spcPts val="2999"/>
              </a:lnSpc>
              <a:spcBef>
                <a:spcPct val="0"/>
              </a:spcBef>
            </a:pPr>
            <a:r>
              <a:rPr lang="en-US" b="true" sz="2499">
                <a:solidFill>
                  <a:srgbClr val="FFFFFF"/>
                </a:solidFill>
                <a:latin typeface="Arimo Bold"/>
                <a:ea typeface="Arimo Bold"/>
                <a:cs typeface="Arimo Bold"/>
                <a:sym typeface="Arimo Bold"/>
              </a:rPr>
              <a:t>plt.scatter(df_clean['Vote_Count'], df_clean['Popularity']); plt.show()</a:t>
            </a:r>
          </a:p>
        </p:txBody>
      </p:sp>
      <p:sp>
        <p:nvSpPr>
          <p:cNvPr name="TextBox 20" id="20"/>
          <p:cNvSpPr txBox="true"/>
          <p:nvPr/>
        </p:nvSpPr>
        <p:spPr>
          <a:xfrm rot="0">
            <a:off x="12382821" y="6290687"/>
            <a:ext cx="5808857" cy="885825"/>
          </a:xfrm>
          <a:prstGeom prst="rect">
            <a:avLst/>
          </a:prstGeom>
        </p:spPr>
        <p:txBody>
          <a:bodyPr anchor="t" rtlCol="false" tIns="0" lIns="0" bIns="0" rIns="0">
            <a:spAutoFit/>
          </a:bodyPr>
          <a:lstStyle/>
          <a:p>
            <a:pPr algn="ctr">
              <a:lnSpc>
                <a:spcPts val="3480"/>
              </a:lnSpc>
              <a:spcBef>
                <a:spcPct val="0"/>
              </a:spcBef>
            </a:pPr>
            <a:r>
              <a:rPr lang="en-US" b="true" sz="2900">
                <a:solidFill>
                  <a:srgbClr val="FFFFFF"/>
                </a:solidFill>
                <a:latin typeface="Arimo Bold"/>
                <a:ea typeface="Arimo Bold"/>
                <a:cs typeface="Arimo Bold"/>
                <a:sym typeface="Arimo Bold"/>
              </a:rPr>
              <a:t>Vote Count vs Popularity Analysis code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31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sp>
        <p:nvSpPr>
          <p:cNvPr name="AutoShape 4" id="4"/>
          <p:cNvSpPr/>
          <p:nvPr/>
        </p:nvSpPr>
        <p:spPr>
          <a:xfrm rot="3936">
            <a:off x="704709" y="462600"/>
            <a:ext cx="17263781"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457200" y="832320"/>
            <a:ext cx="6398640" cy="8997120"/>
            <a:chOff x="0" y="0"/>
            <a:chExt cx="8531520" cy="11996160"/>
          </a:xfrm>
        </p:grpSpPr>
        <p:sp>
          <p:nvSpPr>
            <p:cNvPr name="Freeform 6" id="6"/>
            <p:cNvSpPr/>
            <p:nvPr/>
          </p:nvSpPr>
          <p:spPr>
            <a:xfrm flipH="false" flipV="false" rot="0">
              <a:off x="0" y="0"/>
              <a:ext cx="8531479" cy="11996166"/>
            </a:xfrm>
            <a:custGeom>
              <a:avLst/>
              <a:gdLst/>
              <a:ahLst/>
              <a:cxnLst/>
              <a:rect r="r" b="b" t="t" l="l"/>
              <a:pathLst>
                <a:path h="11996166" w="8531479">
                  <a:moveTo>
                    <a:pt x="0" y="1421892"/>
                  </a:moveTo>
                  <a:cubicBezTo>
                    <a:pt x="0" y="636651"/>
                    <a:pt x="636651" y="0"/>
                    <a:pt x="1421892" y="0"/>
                  </a:cubicBezTo>
                  <a:lnTo>
                    <a:pt x="7109587" y="0"/>
                  </a:lnTo>
                  <a:cubicBezTo>
                    <a:pt x="7894955" y="0"/>
                    <a:pt x="8531479" y="636651"/>
                    <a:pt x="8531479" y="1421892"/>
                  </a:cubicBezTo>
                  <a:lnTo>
                    <a:pt x="8531479" y="10574274"/>
                  </a:lnTo>
                  <a:cubicBezTo>
                    <a:pt x="8531479" y="11359642"/>
                    <a:pt x="7894828" y="11996166"/>
                    <a:pt x="7109587" y="11996166"/>
                  </a:cubicBezTo>
                  <a:lnTo>
                    <a:pt x="1421892" y="11996166"/>
                  </a:lnTo>
                  <a:cubicBezTo>
                    <a:pt x="636651" y="11996166"/>
                    <a:pt x="0" y="11359515"/>
                    <a:pt x="0" y="10574274"/>
                  </a:cubicBezTo>
                  <a:close/>
                </a:path>
              </a:pathLst>
            </a:custGeom>
            <a:blipFill>
              <a:blip r:embed="rId2"/>
              <a:stretch>
                <a:fillRect l="-5804" t="0" r="-5804" b="0"/>
              </a:stretch>
            </a:blipFill>
          </p:spPr>
        </p:sp>
      </p:grpSp>
      <p:grpSp>
        <p:nvGrpSpPr>
          <p:cNvPr name="Group 7" id="7"/>
          <p:cNvGrpSpPr/>
          <p:nvPr/>
        </p:nvGrpSpPr>
        <p:grpSpPr>
          <a:xfrm rot="0">
            <a:off x="7981920" y="5143680"/>
            <a:ext cx="9848160" cy="4685760"/>
            <a:chOff x="0" y="0"/>
            <a:chExt cx="13130880" cy="6247680"/>
          </a:xfrm>
        </p:grpSpPr>
        <p:sp>
          <p:nvSpPr>
            <p:cNvPr name="Freeform 8" id="8"/>
            <p:cNvSpPr/>
            <p:nvPr/>
          </p:nvSpPr>
          <p:spPr>
            <a:xfrm flipH="false" flipV="false" rot="0">
              <a:off x="0" y="0"/>
              <a:ext cx="13130881" cy="6247680"/>
            </a:xfrm>
            <a:custGeom>
              <a:avLst/>
              <a:gdLst/>
              <a:ahLst/>
              <a:cxnLst/>
              <a:rect r="r" b="b" t="t" l="l"/>
              <a:pathLst>
                <a:path h="6247680" w="13130881">
                  <a:moveTo>
                    <a:pt x="0" y="0"/>
                  </a:moveTo>
                  <a:lnTo>
                    <a:pt x="13130881" y="0"/>
                  </a:lnTo>
                  <a:lnTo>
                    <a:pt x="13130881" y="6247680"/>
                  </a:lnTo>
                  <a:lnTo>
                    <a:pt x="0" y="6247680"/>
                  </a:lnTo>
                  <a:close/>
                </a:path>
              </a:pathLst>
            </a:custGeom>
            <a:solidFill>
              <a:srgbClr val="000000">
                <a:alpha val="0"/>
              </a:srgbClr>
            </a:solidFill>
          </p:spPr>
        </p:sp>
        <p:sp>
          <p:nvSpPr>
            <p:cNvPr name="TextBox 9" id="9"/>
            <p:cNvSpPr txBox="true"/>
            <p:nvPr/>
          </p:nvSpPr>
          <p:spPr>
            <a:xfrm>
              <a:off x="0" y="-152400"/>
              <a:ext cx="13130880" cy="6400080"/>
            </a:xfrm>
            <a:prstGeom prst="rect">
              <a:avLst/>
            </a:prstGeom>
          </p:spPr>
          <p:txBody>
            <a:bodyPr anchor="b" rtlCol="false" tIns="0" lIns="0" bIns="0" rIns="0"/>
            <a:lstStyle/>
            <a:p>
              <a:pPr algn="l">
                <a:lnSpc>
                  <a:spcPts val="4320"/>
                </a:lnSpc>
              </a:pPr>
              <a:r>
                <a:rPr lang="en-US" sz="2400">
                  <a:solidFill>
                    <a:srgbClr val="FFFFFF"/>
                  </a:solidFill>
                  <a:latin typeface="Arimo"/>
                  <a:ea typeface="Arimo"/>
                  <a:cs typeface="Arimo"/>
                  <a:sym typeface="Arimo"/>
                </a:rPr>
                <a:t>Data cleaning involved removing missing and invalid values, especially focusing on release years and popularity metrics. Columns were renamed for clarity, and data types converted to appropriate formats. Relevant fields like vote count, popularity, and release year were extracted for detailed analysis. These steps ensured data integrity for effective exploration.</a:t>
              </a:r>
            </a:p>
          </p:txBody>
        </p:sp>
      </p:grpSp>
      <p:sp>
        <p:nvSpPr>
          <p:cNvPr name="TextBox 10" id="10"/>
          <p:cNvSpPr txBox="true"/>
          <p:nvPr/>
        </p:nvSpPr>
        <p:spPr>
          <a:xfrm rot="0">
            <a:off x="6855840" y="813270"/>
            <a:ext cx="11894400" cy="1950090"/>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Data Cleaning Procedures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68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4" id="4"/>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316635" y="316635"/>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7" id="7"/>
          <p:cNvGrpSpPr/>
          <p:nvPr/>
        </p:nvGrpSpPr>
        <p:grpSpPr>
          <a:xfrm rot="0">
            <a:off x="1028700" y="5822670"/>
            <a:ext cx="6800400" cy="3713760"/>
            <a:chOff x="0" y="0"/>
            <a:chExt cx="9067200" cy="4951680"/>
          </a:xfrm>
        </p:grpSpPr>
        <p:sp>
          <p:nvSpPr>
            <p:cNvPr name="Freeform 8" id="8"/>
            <p:cNvSpPr/>
            <p:nvPr/>
          </p:nvSpPr>
          <p:spPr>
            <a:xfrm flipH="false" flipV="false" rot="0">
              <a:off x="0" y="0"/>
              <a:ext cx="9067200" cy="4951680"/>
            </a:xfrm>
            <a:custGeom>
              <a:avLst/>
              <a:gdLst/>
              <a:ahLst/>
              <a:cxnLst/>
              <a:rect r="r" b="b" t="t" l="l"/>
              <a:pathLst>
                <a:path h="4951680" w="9067200">
                  <a:moveTo>
                    <a:pt x="0" y="0"/>
                  </a:moveTo>
                  <a:lnTo>
                    <a:pt x="9067200" y="0"/>
                  </a:lnTo>
                  <a:lnTo>
                    <a:pt x="9067200" y="4951680"/>
                  </a:lnTo>
                  <a:lnTo>
                    <a:pt x="0" y="4951680"/>
                  </a:lnTo>
                  <a:close/>
                </a:path>
              </a:pathLst>
            </a:custGeom>
            <a:solidFill>
              <a:srgbClr val="000000">
                <a:alpha val="0"/>
              </a:srgbClr>
            </a:solidFill>
          </p:spPr>
        </p:sp>
        <p:sp>
          <p:nvSpPr>
            <p:cNvPr name="TextBox 9" id="9"/>
            <p:cNvSpPr txBox="true"/>
            <p:nvPr/>
          </p:nvSpPr>
          <p:spPr>
            <a:xfrm>
              <a:off x="0" y="-19050"/>
              <a:ext cx="9067200" cy="4970730"/>
            </a:xfrm>
            <a:prstGeom prst="rect">
              <a:avLst/>
            </a:prstGeom>
          </p:spPr>
          <p:txBody>
            <a:bodyPr anchor="b" rtlCol="false" tIns="0" lIns="0" bIns="0" rIns="0"/>
            <a:lstStyle/>
            <a:p>
              <a:pPr algn="l">
                <a:lnSpc>
                  <a:spcPts val="6240"/>
                </a:lnSpc>
              </a:pPr>
              <a:r>
                <a:rPr lang="en-US" sz="5200" b="true">
                  <a:solidFill>
                    <a:srgbClr val="FFFFFF"/>
                  </a:solidFill>
                  <a:latin typeface="Arimo Bold"/>
                  <a:ea typeface="Arimo Bold"/>
                  <a:cs typeface="Arimo Bold"/>
                  <a:sym typeface="Arimo Bold"/>
                </a:rPr>
                <a:t>Key Visual Insights and Patterns</a:t>
              </a:r>
            </a:p>
          </p:txBody>
        </p:sp>
      </p:grpSp>
      <p:sp>
        <p:nvSpPr>
          <p:cNvPr name="Freeform 10" id="10"/>
          <p:cNvSpPr/>
          <p:nvPr/>
        </p:nvSpPr>
        <p:spPr>
          <a:xfrm flipH="false" flipV="false" rot="0">
            <a:off x="7500385" y="607125"/>
            <a:ext cx="9758915" cy="9041727"/>
          </a:xfrm>
          <a:custGeom>
            <a:avLst/>
            <a:gdLst/>
            <a:ahLst/>
            <a:cxnLst/>
            <a:rect r="r" b="b" t="t" l="l"/>
            <a:pathLst>
              <a:path h="9041727" w="9758915">
                <a:moveTo>
                  <a:pt x="0" y="0"/>
                </a:moveTo>
                <a:lnTo>
                  <a:pt x="9758915" y="0"/>
                </a:lnTo>
                <a:lnTo>
                  <a:pt x="9758915" y="9041727"/>
                </a:lnTo>
                <a:lnTo>
                  <a:pt x="0" y="9041727"/>
                </a:lnTo>
                <a:lnTo>
                  <a:pt x="0" y="0"/>
                </a:lnTo>
                <a:close/>
              </a:path>
            </a:pathLst>
          </a:custGeom>
          <a:blipFill>
            <a:blip r:embed="rId2"/>
            <a:stretch>
              <a:fillRect l="0" t="-43246" r="-3888" b="-43246"/>
            </a:stretch>
          </a:blipFill>
        </p:spPr>
      </p:sp>
      <p:sp>
        <p:nvSpPr>
          <p:cNvPr name="TextBox 11" id="11"/>
          <p:cNvSpPr txBox="true"/>
          <p:nvPr/>
        </p:nvSpPr>
        <p:spPr>
          <a:xfrm rot="0">
            <a:off x="7500385" y="1121231"/>
            <a:ext cx="9379440" cy="5131200"/>
          </a:xfrm>
          <a:prstGeom prst="rect">
            <a:avLst/>
          </a:prstGeom>
        </p:spPr>
        <p:txBody>
          <a:bodyPr anchor="t" rtlCol="false" tIns="0" lIns="0" bIns="0" rIns="0">
            <a:spAutoFit/>
          </a:bodyPr>
          <a:lstStyle/>
          <a:p>
            <a:pPr algn="l">
              <a:lnSpc>
                <a:spcPts val="4320"/>
              </a:lnSpc>
            </a:pPr>
            <a:r>
              <a:rPr lang="en-US" sz="2400">
                <a:solidFill>
                  <a:srgbClr val="FFFFFF"/>
                </a:solidFill>
                <a:latin typeface="Arimo"/>
                <a:ea typeface="Arimo"/>
                <a:cs typeface="Arimo"/>
                <a:sym typeface="Arimo"/>
              </a:rPr>
              <a:t>Analysis revealed a significant growth in content release after 2000, with a sharp increase from 2015 to 2020 due to Netflix’s expansion. Popularity and vote count showed weak correlation, indicating other factors like marketing impact popularity. The dataset also highlighted content distribution changes over time and the dominance of a few titles in viewer engagement.</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bg>
      <p:bgPr>
        <a:solidFill>
          <a:srgbClr val="57192C"/>
        </a:solidFill>
      </p:bgPr>
    </p:bg>
    <p:spTree>
      <p:nvGrpSpPr>
        <p:cNvPr id="1" name=""/>
        <p:cNvGrpSpPr/>
        <p:nvPr/>
      </p:nvGrpSpPr>
      <p:grpSpPr>
        <a:xfrm>
          <a:off x="0" y="0"/>
          <a:ext cx="0" cy="0"/>
          <a:chOff x="0" y="0"/>
          <a:chExt cx="0" cy="0"/>
        </a:xfrm>
      </p:grpSpPr>
      <p:grpSp>
        <p:nvGrpSpPr>
          <p:cNvPr name="Group 2" id="2"/>
          <p:cNvGrpSpPr/>
          <p:nvPr/>
        </p:nvGrpSpPr>
        <p:grpSpPr>
          <a:xfrm rot="0">
            <a:off x="17688075" y="316635"/>
            <a:ext cx="277530" cy="290490"/>
            <a:chOff x="0" y="0"/>
            <a:chExt cx="370040" cy="387320"/>
          </a:xfrm>
        </p:grpSpPr>
        <p:sp>
          <p:nvSpPr>
            <p:cNvPr name="Freeform 3" id="3"/>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4" id="4"/>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5" id="5"/>
          <p:cNvGrpSpPr/>
          <p:nvPr/>
        </p:nvGrpSpPr>
        <p:grpSpPr>
          <a:xfrm rot="0">
            <a:off x="316635" y="316635"/>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7" id="7"/>
          <p:cNvGrpSpPr/>
          <p:nvPr/>
        </p:nvGrpSpPr>
        <p:grpSpPr>
          <a:xfrm rot="0">
            <a:off x="709035" y="6089867"/>
            <a:ext cx="6800400" cy="3713760"/>
            <a:chOff x="0" y="0"/>
            <a:chExt cx="9067200" cy="4951680"/>
          </a:xfrm>
        </p:grpSpPr>
        <p:sp>
          <p:nvSpPr>
            <p:cNvPr name="Freeform 8" id="8"/>
            <p:cNvSpPr/>
            <p:nvPr/>
          </p:nvSpPr>
          <p:spPr>
            <a:xfrm flipH="false" flipV="false" rot="0">
              <a:off x="0" y="0"/>
              <a:ext cx="9067200" cy="4951680"/>
            </a:xfrm>
            <a:custGeom>
              <a:avLst/>
              <a:gdLst/>
              <a:ahLst/>
              <a:cxnLst/>
              <a:rect r="r" b="b" t="t" l="l"/>
              <a:pathLst>
                <a:path h="4951680" w="9067200">
                  <a:moveTo>
                    <a:pt x="0" y="0"/>
                  </a:moveTo>
                  <a:lnTo>
                    <a:pt x="9067200" y="0"/>
                  </a:lnTo>
                  <a:lnTo>
                    <a:pt x="9067200" y="4951680"/>
                  </a:lnTo>
                  <a:lnTo>
                    <a:pt x="0" y="4951680"/>
                  </a:lnTo>
                  <a:close/>
                </a:path>
              </a:pathLst>
            </a:custGeom>
            <a:solidFill>
              <a:srgbClr val="000000">
                <a:alpha val="0"/>
              </a:srgbClr>
            </a:solidFill>
          </p:spPr>
        </p:sp>
        <p:sp>
          <p:nvSpPr>
            <p:cNvPr name="TextBox 9" id="9"/>
            <p:cNvSpPr txBox="true"/>
            <p:nvPr/>
          </p:nvSpPr>
          <p:spPr>
            <a:xfrm>
              <a:off x="0" y="-19050"/>
              <a:ext cx="9067200" cy="4970730"/>
            </a:xfrm>
            <a:prstGeom prst="rect">
              <a:avLst/>
            </a:prstGeom>
          </p:spPr>
          <p:txBody>
            <a:bodyPr anchor="b" rtlCol="false" tIns="0" lIns="0" bIns="0" rIns="0"/>
            <a:lstStyle/>
            <a:p>
              <a:pPr algn="l">
                <a:lnSpc>
                  <a:spcPts val="6240"/>
                </a:lnSpc>
              </a:pPr>
              <a:r>
                <a:rPr lang="en-US" sz="5200" b="true">
                  <a:solidFill>
                    <a:srgbClr val="FFFFFF"/>
                  </a:solidFill>
                  <a:latin typeface="Arimo Bold"/>
                  <a:ea typeface="Arimo Bold"/>
                  <a:cs typeface="Arimo Bold"/>
                  <a:sym typeface="Arimo Bold"/>
                </a:rPr>
                <a:t>Applications and Future Directions</a:t>
              </a:r>
            </a:p>
          </p:txBody>
        </p:sp>
      </p:grpSp>
      <p:sp>
        <p:nvSpPr>
          <p:cNvPr name="TextBox 10" id="10"/>
          <p:cNvSpPr txBox="true"/>
          <p:nvPr/>
        </p:nvSpPr>
        <p:spPr>
          <a:xfrm rot="0">
            <a:off x="6928710" y="847725"/>
            <a:ext cx="10653135" cy="3673174"/>
          </a:xfrm>
          <a:prstGeom prst="rect">
            <a:avLst/>
          </a:prstGeom>
        </p:spPr>
        <p:txBody>
          <a:bodyPr anchor="t" rtlCol="false" tIns="0" lIns="0" bIns="0" rIns="0">
            <a:spAutoFit/>
          </a:bodyPr>
          <a:lstStyle/>
          <a:p>
            <a:pPr algn="l" marL="588524" indent="-294262" lvl="1">
              <a:lnSpc>
                <a:spcPts val="4906"/>
              </a:lnSpc>
              <a:buFont typeface="Arial"/>
              <a:buChar char="•"/>
            </a:pPr>
            <a:r>
              <a:rPr lang="en-US" sz="2725">
                <a:solidFill>
                  <a:srgbClr val="FFFFFF"/>
                </a:solidFill>
                <a:latin typeface="Arimo"/>
                <a:ea typeface="Arimo"/>
                <a:cs typeface="Arimo"/>
                <a:sym typeface="Arimo"/>
              </a:rPr>
              <a:t>H</a:t>
            </a:r>
            <a:r>
              <a:rPr lang="en-US" sz="2725">
                <a:solidFill>
                  <a:srgbClr val="FFFFFF"/>
                </a:solidFill>
                <a:latin typeface="Arimo"/>
                <a:ea typeface="Arimo"/>
                <a:cs typeface="Arimo"/>
                <a:sym typeface="Arimo"/>
              </a:rPr>
              <a:t>elps identify what type of content gains the most popularity.</a:t>
            </a:r>
          </a:p>
          <a:p>
            <a:pPr algn="l" marL="588524" indent="-294262" lvl="1">
              <a:lnSpc>
                <a:spcPts val="4906"/>
              </a:lnSpc>
              <a:buFont typeface="Arial"/>
              <a:buChar char="•"/>
            </a:pPr>
            <a:r>
              <a:rPr lang="en-US" sz="2725">
                <a:solidFill>
                  <a:srgbClr val="FFFFFF"/>
                </a:solidFill>
                <a:latin typeface="Arimo"/>
                <a:ea typeface="Arimo"/>
                <a:cs typeface="Arimo"/>
                <a:sym typeface="Arimo"/>
              </a:rPr>
              <a:t>Useful for content recommendation systems.</a:t>
            </a:r>
          </a:p>
          <a:p>
            <a:pPr algn="l" marL="588524" indent="-294262" lvl="1">
              <a:lnSpc>
                <a:spcPts val="4906"/>
              </a:lnSpc>
              <a:buFont typeface="Arial"/>
              <a:buChar char="•"/>
            </a:pPr>
            <a:r>
              <a:rPr lang="en-US" sz="2725">
                <a:solidFill>
                  <a:srgbClr val="FFFFFF"/>
                </a:solidFill>
                <a:latin typeface="Arimo"/>
                <a:ea typeface="Arimo"/>
                <a:cs typeface="Arimo"/>
                <a:sym typeface="Arimo"/>
              </a:rPr>
              <a:t>Can help Netflix decide what kind of movies to invest in.</a:t>
            </a:r>
          </a:p>
          <a:p>
            <a:pPr algn="l" marL="588524" indent="-294262" lvl="1">
              <a:lnSpc>
                <a:spcPts val="4906"/>
              </a:lnSpc>
              <a:buFont typeface="Arial"/>
              <a:buChar char="•"/>
            </a:pPr>
            <a:r>
              <a:rPr lang="en-US" sz="2725">
                <a:solidFill>
                  <a:srgbClr val="FFFFFF"/>
                </a:solidFill>
                <a:latin typeface="Arimo"/>
                <a:ea typeface="Arimo"/>
                <a:cs typeface="Arimo"/>
                <a:sym typeface="Arimo"/>
              </a:rPr>
              <a:t>Helps analysts see trends like which years had content growth.</a:t>
            </a:r>
          </a:p>
          <a:p>
            <a:pPr algn="l" marL="588524" indent="-294262" lvl="1">
              <a:lnSpc>
                <a:spcPts val="4906"/>
              </a:lnSpc>
              <a:buFont typeface="Arial"/>
              <a:buChar char="•"/>
            </a:pPr>
            <a:r>
              <a:rPr lang="en-US" sz="2725">
                <a:solidFill>
                  <a:srgbClr val="FFFFFF"/>
                </a:solidFill>
                <a:latin typeface="Arimo"/>
                <a:ea typeface="Arimo"/>
                <a:cs typeface="Arimo"/>
                <a:sym typeface="Arimo"/>
              </a:rPr>
              <a:t>Useful for academic research on OTT platform content trends.</a:t>
            </a:r>
          </a:p>
          <a:p>
            <a:pPr algn="l">
              <a:lnSpc>
                <a:spcPts val="4906"/>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p:cSld>
    <p:bg>
      <p:bgPr>
        <a:solidFill>
          <a:srgbClr val="57192C"/>
        </a:solidFill>
      </p:bgPr>
    </p:bg>
    <p:spTree>
      <p:nvGrpSpPr>
        <p:cNvPr id="1" name=""/>
        <p:cNvGrpSpPr/>
        <p:nvPr/>
      </p:nvGrpSpPr>
      <p:grpSpPr>
        <a:xfrm>
          <a:off x="0" y="0"/>
          <a:ext cx="0" cy="0"/>
          <a:chOff x="0" y="0"/>
          <a:chExt cx="0" cy="0"/>
        </a:xfrm>
      </p:grpSpPr>
      <p:sp>
        <p:nvSpPr>
          <p:cNvPr name="TextBox 2" id="2"/>
          <p:cNvSpPr txBox="true"/>
          <p:nvPr/>
        </p:nvSpPr>
        <p:spPr>
          <a:xfrm rot="0">
            <a:off x="6995509" y="1682833"/>
            <a:ext cx="10653135" cy="7989741"/>
          </a:xfrm>
          <a:prstGeom prst="rect">
            <a:avLst/>
          </a:prstGeom>
        </p:spPr>
        <p:txBody>
          <a:bodyPr anchor="t" rtlCol="false" tIns="0" lIns="0" bIns="0" rIns="0">
            <a:spAutoFit/>
          </a:bodyPr>
          <a:lstStyle/>
          <a:p>
            <a:pPr algn="l" marL="588524" indent="-294262" lvl="1">
              <a:lnSpc>
                <a:spcPts val="4906"/>
              </a:lnSpc>
              <a:buFont typeface="Arial"/>
              <a:buChar char="•"/>
            </a:pPr>
            <a:r>
              <a:rPr lang="en-US" sz="2725">
                <a:solidFill>
                  <a:srgbClr val="FFFFFF"/>
                </a:solidFill>
                <a:latin typeface="Arimo"/>
                <a:ea typeface="Arimo"/>
                <a:cs typeface="Arimo"/>
                <a:sym typeface="Arimo"/>
              </a:rPr>
              <a:t>Prob</a:t>
            </a:r>
            <a:r>
              <a:rPr lang="en-US" sz="2725">
                <a:solidFill>
                  <a:srgbClr val="FFFFFF"/>
                </a:solidFill>
                <a:latin typeface="Arimo"/>
                <a:ea typeface="Arimo"/>
                <a:cs typeface="Arimo"/>
                <a:sym typeface="Arimo"/>
              </a:rPr>
              <a:t>lems</a:t>
            </a:r>
          </a:p>
          <a:p>
            <a:pPr algn="l" marL="588524" indent="-294262" lvl="1">
              <a:lnSpc>
                <a:spcPts val="4906"/>
              </a:lnSpc>
              <a:buFont typeface="Arial"/>
              <a:buChar char="•"/>
            </a:pPr>
            <a:r>
              <a:rPr lang="en-US" sz="2725">
                <a:solidFill>
                  <a:srgbClr val="FFFFFF"/>
                </a:solidFill>
                <a:latin typeface="Arimo"/>
                <a:ea typeface="Arimo"/>
                <a:cs typeface="Arimo"/>
                <a:sym typeface="Arimo"/>
              </a:rPr>
              <a:t>Missing release year values</a:t>
            </a:r>
          </a:p>
          <a:p>
            <a:pPr algn="l" marL="588524" indent="-294262" lvl="1">
              <a:lnSpc>
                <a:spcPts val="4906"/>
              </a:lnSpc>
              <a:buFont typeface="Arial"/>
              <a:buChar char="•"/>
            </a:pPr>
            <a:r>
              <a:rPr lang="en-US" sz="2725">
                <a:solidFill>
                  <a:srgbClr val="FFFFFF"/>
                </a:solidFill>
                <a:latin typeface="Arimo"/>
                <a:ea typeface="Arimo"/>
                <a:cs typeface="Arimo"/>
                <a:sym typeface="Arimo"/>
              </a:rPr>
              <a:t>Inconsistent or incorrect metadata</a:t>
            </a:r>
          </a:p>
          <a:p>
            <a:pPr algn="l" marL="588524" indent="-294262" lvl="1">
              <a:lnSpc>
                <a:spcPts val="4906"/>
              </a:lnSpc>
              <a:buFont typeface="Arial"/>
              <a:buChar char="•"/>
            </a:pPr>
            <a:r>
              <a:rPr lang="en-US" sz="2725">
                <a:solidFill>
                  <a:srgbClr val="FFFFFF"/>
                </a:solidFill>
                <a:latin typeface="Arimo"/>
                <a:ea typeface="Arimo"/>
                <a:cs typeface="Arimo"/>
                <a:sym typeface="Arimo"/>
              </a:rPr>
              <a:t>Popularity and vote count skewed heavily</a:t>
            </a:r>
          </a:p>
          <a:p>
            <a:pPr algn="l" marL="588524" indent="-294262" lvl="1">
              <a:lnSpc>
                <a:spcPts val="4906"/>
              </a:lnSpc>
              <a:buFont typeface="Arial"/>
              <a:buChar char="•"/>
            </a:pPr>
            <a:r>
              <a:rPr lang="en-US" sz="2725">
                <a:solidFill>
                  <a:srgbClr val="FFFFFF"/>
                </a:solidFill>
                <a:latin typeface="Arimo"/>
                <a:ea typeface="Arimo"/>
                <a:cs typeface="Arimo"/>
                <a:sym typeface="Arimo"/>
              </a:rPr>
              <a:t>Large number of low-value outliers</a:t>
            </a:r>
          </a:p>
          <a:p>
            <a:pPr algn="l" marL="588524" indent="-294262" lvl="1">
              <a:lnSpc>
                <a:spcPts val="4906"/>
              </a:lnSpc>
              <a:buFont typeface="Arial"/>
              <a:buChar char="•"/>
            </a:pPr>
            <a:r>
              <a:rPr lang="en-US" sz="2725">
                <a:solidFill>
                  <a:srgbClr val="FFFFFF"/>
                </a:solidFill>
                <a:latin typeface="Arimo"/>
                <a:ea typeface="Arimo"/>
                <a:cs typeface="Arimo"/>
                <a:sym typeface="Arimo"/>
              </a:rPr>
              <a:t>Visual clutter due to dense scatter plot</a:t>
            </a:r>
          </a:p>
          <a:p>
            <a:pPr algn="l" marL="588524" indent="-294262" lvl="1">
              <a:lnSpc>
                <a:spcPts val="4906"/>
              </a:lnSpc>
              <a:buFont typeface="Arial"/>
              <a:buChar char="•"/>
            </a:pPr>
            <a:r>
              <a:rPr lang="en-US" sz="2725">
                <a:solidFill>
                  <a:srgbClr val="FFFFFF"/>
                </a:solidFill>
                <a:latin typeface="Arimo"/>
                <a:ea typeface="Arimo"/>
                <a:cs typeface="Arimo"/>
                <a:sym typeface="Arimo"/>
              </a:rPr>
              <a:t>Solutions</a:t>
            </a:r>
          </a:p>
          <a:p>
            <a:pPr algn="l" marL="588524" indent="-294262" lvl="1">
              <a:lnSpc>
                <a:spcPts val="4906"/>
              </a:lnSpc>
              <a:buFont typeface="Arial"/>
              <a:buChar char="•"/>
            </a:pPr>
            <a:r>
              <a:rPr lang="en-US" sz="2725">
                <a:solidFill>
                  <a:srgbClr val="FFFFFF"/>
                </a:solidFill>
                <a:latin typeface="Arimo"/>
                <a:ea typeface="Arimo"/>
                <a:cs typeface="Arimo"/>
                <a:sym typeface="Arimo"/>
              </a:rPr>
              <a:t>Cleaned null values</a:t>
            </a:r>
          </a:p>
          <a:p>
            <a:pPr algn="l" marL="588524" indent="-294262" lvl="1">
              <a:lnSpc>
                <a:spcPts val="4906"/>
              </a:lnSpc>
              <a:buFont typeface="Arial"/>
              <a:buChar char="•"/>
            </a:pPr>
            <a:r>
              <a:rPr lang="en-US" sz="2725">
                <a:solidFill>
                  <a:srgbClr val="FFFFFF"/>
                </a:solidFill>
                <a:latin typeface="Arimo"/>
                <a:ea typeface="Arimo"/>
                <a:cs typeface="Arimo"/>
                <a:sym typeface="Arimo"/>
              </a:rPr>
              <a:t>Standardized year formats</a:t>
            </a:r>
          </a:p>
          <a:p>
            <a:pPr algn="l" marL="588524" indent="-294262" lvl="1">
              <a:lnSpc>
                <a:spcPts val="4906"/>
              </a:lnSpc>
              <a:buFont typeface="Arial"/>
              <a:buChar char="•"/>
            </a:pPr>
            <a:r>
              <a:rPr lang="en-US" sz="2725">
                <a:solidFill>
                  <a:srgbClr val="FFFFFF"/>
                </a:solidFill>
                <a:latin typeface="Arimo"/>
                <a:ea typeface="Arimo"/>
                <a:cs typeface="Arimo"/>
                <a:sym typeface="Arimo"/>
              </a:rPr>
              <a:t>Applied filtering to remove invalid entries</a:t>
            </a:r>
          </a:p>
          <a:p>
            <a:pPr algn="l" marL="588524" indent="-294262" lvl="1">
              <a:lnSpc>
                <a:spcPts val="4906"/>
              </a:lnSpc>
              <a:buFont typeface="Arial"/>
              <a:buChar char="•"/>
            </a:pPr>
            <a:r>
              <a:rPr lang="en-US" sz="2725">
                <a:solidFill>
                  <a:srgbClr val="FFFFFF"/>
                </a:solidFill>
                <a:latin typeface="Arimo"/>
                <a:ea typeface="Arimo"/>
                <a:cs typeface="Arimo"/>
                <a:sym typeface="Arimo"/>
              </a:rPr>
              <a:t>Us</a:t>
            </a:r>
            <a:r>
              <a:rPr lang="en-US" sz="2725">
                <a:solidFill>
                  <a:srgbClr val="FFFFFF"/>
                </a:solidFill>
                <a:latin typeface="Arimo"/>
                <a:ea typeface="Arimo"/>
                <a:cs typeface="Arimo"/>
                <a:sym typeface="Arimo"/>
              </a:rPr>
              <a:t>ed alpha transparency to reduce scatter plot overcrowding</a:t>
            </a:r>
          </a:p>
          <a:p>
            <a:pPr algn="l" marL="588524" indent="-294262" lvl="1">
              <a:lnSpc>
                <a:spcPts val="4906"/>
              </a:lnSpc>
              <a:buFont typeface="Arial"/>
              <a:buChar char="•"/>
            </a:pPr>
            <a:r>
              <a:rPr lang="en-US" sz="2725">
                <a:solidFill>
                  <a:srgbClr val="FFFFFF"/>
                </a:solidFill>
                <a:latin typeface="Arimo"/>
                <a:ea typeface="Arimo"/>
                <a:cs typeface="Arimo"/>
                <a:sym typeface="Arimo"/>
              </a:rPr>
              <a:t>Used separate visualizations for pre-2000 and post-2000 data</a:t>
            </a:r>
          </a:p>
          <a:p>
            <a:pPr algn="l">
              <a:lnSpc>
                <a:spcPts val="4906"/>
              </a:lnSpc>
            </a:pPr>
          </a:p>
        </p:txBody>
      </p:sp>
      <p:sp>
        <p:nvSpPr>
          <p:cNvPr name="TextBox 3" id="3"/>
          <p:cNvSpPr txBox="true"/>
          <p:nvPr/>
        </p:nvSpPr>
        <p:spPr>
          <a:xfrm rot="0">
            <a:off x="658172" y="831518"/>
            <a:ext cx="9356527" cy="809625"/>
          </a:xfrm>
          <a:prstGeom prst="rect">
            <a:avLst/>
          </a:prstGeom>
        </p:spPr>
        <p:txBody>
          <a:bodyPr anchor="t" rtlCol="false" tIns="0" lIns="0" bIns="0" rIns="0">
            <a:spAutoFit/>
          </a:bodyPr>
          <a:lstStyle/>
          <a:p>
            <a:pPr algn="ctr">
              <a:lnSpc>
                <a:spcPts val="6239"/>
              </a:lnSpc>
              <a:spcBef>
                <a:spcPct val="0"/>
              </a:spcBef>
            </a:pPr>
            <a:r>
              <a:rPr lang="en-US" b="true" sz="5199">
                <a:solidFill>
                  <a:srgbClr val="FFFFFF"/>
                </a:solidFill>
                <a:latin typeface="Arimo Bold"/>
                <a:ea typeface="Arimo Bold"/>
                <a:cs typeface="Arimo Bold"/>
                <a:sym typeface="Arimo Bold"/>
              </a:rPr>
              <a:t> Problems Faced &amp; Solutions:</a:t>
            </a:r>
          </a:p>
        </p:txBody>
      </p:sp>
      <p:grpSp>
        <p:nvGrpSpPr>
          <p:cNvPr name="Group 4" id="4"/>
          <p:cNvGrpSpPr/>
          <p:nvPr/>
        </p:nvGrpSpPr>
        <p:grpSpPr>
          <a:xfrm rot="0">
            <a:off x="316635" y="316635"/>
            <a:ext cx="277530" cy="290490"/>
            <a:chOff x="0" y="0"/>
            <a:chExt cx="370040" cy="387320"/>
          </a:xfrm>
        </p:grpSpPr>
        <p:sp>
          <p:nvSpPr>
            <p:cNvPr name="Freeform 5" id="5"/>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grpSp>
        <p:nvGrpSpPr>
          <p:cNvPr name="Group 6" id="6"/>
          <p:cNvGrpSpPr/>
          <p:nvPr/>
        </p:nvGrpSpPr>
        <p:grpSpPr>
          <a:xfrm rot="0">
            <a:off x="17371114" y="316635"/>
            <a:ext cx="277530" cy="290490"/>
            <a:chOff x="0" y="0"/>
            <a:chExt cx="370040" cy="387320"/>
          </a:xfrm>
        </p:grpSpPr>
        <p:sp>
          <p:nvSpPr>
            <p:cNvPr name="Freeform 7" id="7"/>
            <p:cNvSpPr/>
            <p:nvPr/>
          </p:nvSpPr>
          <p:spPr>
            <a:xfrm flipH="false" flipV="false" rot="0">
              <a:off x="-1270" y="0"/>
              <a:ext cx="372618" cy="387477"/>
            </a:xfrm>
            <a:custGeom>
              <a:avLst/>
              <a:gdLst/>
              <a:ahLst/>
              <a:cxnLst/>
              <a:rect r="r" b="b" t="t" l="l"/>
              <a:pathLst>
                <a:path h="387477" w="372618">
                  <a:moveTo>
                    <a:pt x="359156" y="150368"/>
                  </a:moveTo>
                  <a:lnTo>
                    <a:pt x="258191" y="154432"/>
                  </a:lnTo>
                  <a:cubicBezTo>
                    <a:pt x="254000" y="154559"/>
                    <a:pt x="249936" y="152654"/>
                    <a:pt x="247396" y="149225"/>
                  </a:cubicBezTo>
                  <a:cubicBezTo>
                    <a:pt x="244856" y="145796"/>
                    <a:pt x="244348" y="141351"/>
                    <a:pt x="245745" y="137287"/>
                  </a:cubicBezTo>
                  <a:lnTo>
                    <a:pt x="280797" y="42672"/>
                  </a:lnTo>
                  <a:lnTo>
                    <a:pt x="292735" y="47117"/>
                  </a:lnTo>
                  <a:lnTo>
                    <a:pt x="300609" y="57023"/>
                  </a:lnTo>
                  <a:lnTo>
                    <a:pt x="221361" y="119634"/>
                  </a:lnTo>
                  <a:cubicBezTo>
                    <a:pt x="218059" y="122301"/>
                    <a:pt x="213614" y="123063"/>
                    <a:pt x="209550" y="121793"/>
                  </a:cubicBezTo>
                  <a:cubicBezTo>
                    <a:pt x="205486" y="120523"/>
                    <a:pt x="202438" y="117221"/>
                    <a:pt x="201295"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lnTo>
                    <a:pt x="13970" y="137668"/>
                  </a:lnTo>
                  <a:lnTo>
                    <a:pt x="20955" y="127127"/>
                  </a:lnTo>
                  <a:lnTo>
                    <a:pt x="105029" y="183007"/>
                  </a:lnTo>
                  <a:cubicBezTo>
                    <a:pt x="108585" y="185420"/>
                    <a:pt x="110744" y="189357"/>
                    <a:pt x="110744" y="193548"/>
                  </a:cubicBezTo>
                  <a:cubicBezTo>
                    <a:pt x="110744" y="197739"/>
                    <a:pt x="108585" y="201803"/>
                    <a:pt x="105029" y="204089"/>
                  </a:cubicBezTo>
                  <a:lnTo>
                    <a:pt x="20955"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moveTo>
                    <a:pt x="358267" y="124968"/>
                  </a:moveTo>
                  <a:cubicBezTo>
                    <a:pt x="363982" y="124714"/>
                    <a:pt x="369062" y="128270"/>
                    <a:pt x="370840" y="133731"/>
                  </a:cubicBezTo>
                  <a:cubicBezTo>
                    <a:pt x="372618" y="139192"/>
                    <a:pt x="370586" y="145034"/>
                    <a:pt x="365760" y="148209"/>
                  </a:cubicBezTo>
                  <a:lnTo>
                    <a:pt x="281686" y="204089"/>
                  </a:lnTo>
                  <a:lnTo>
                    <a:pt x="274701" y="193548"/>
                  </a:lnTo>
                  <a:lnTo>
                    <a:pt x="281686" y="183007"/>
                  </a:lnTo>
                  <a:lnTo>
                    <a:pt x="365760" y="238887"/>
                  </a:lnTo>
                  <a:cubicBezTo>
                    <a:pt x="370459" y="242062"/>
                    <a:pt x="372618" y="247904"/>
                    <a:pt x="370840" y="253365"/>
                  </a:cubicBezTo>
                  <a:cubicBezTo>
                    <a:pt x="369062" y="258826"/>
                    <a:pt x="363982" y="262382"/>
                    <a:pt x="358267" y="262128"/>
                  </a:cubicBezTo>
                  <a:lnTo>
                    <a:pt x="257302" y="258064"/>
                  </a:lnTo>
                  <a:lnTo>
                    <a:pt x="257810" y="245364"/>
                  </a:lnTo>
                  <a:lnTo>
                    <a:pt x="269748" y="240919"/>
                  </a:lnTo>
                  <a:lnTo>
                    <a:pt x="304800" y="335534"/>
                  </a:lnTo>
                  <a:cubicBezTo>
                    <a:pt x="306832" y="340868"/>
                    <a:pt x="304927" y="346837"/>
                    <a:pt x="300355" y="350266"/>
                  </a:cubicBezTo>
                  <a:cubicBezTo>
                    <a:pt x="295783" y="353695"/>
                    <a:pt x="289433" y="353441"/>
                    <a:pt x="284988" y="350012"/>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lnTo>
                    <a:pt x="115316" y="129032"/>
                  </a:lnTo>
                  <a:lnTo>
                    <a:pt x="114808" y="141732"/>
                  </a:lnTo>
                  <a:lnTo>
                    <a:pt x="102870" y="146177"/>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lose/>
                </a:path>
              </a:pathLst>
            </a:custGeom>
            <a:solidFill>
              <a:srgbClr val="F1C572"/>
            </a:solidFill>
          </p:spPr>
        </p:sp>
      </p:grpSp>
      <p:sp>
        <p:nvSpPr>
          <p:cNvPr name="AutoShape 8" id="8"/>
          <p:cNvSpPr/>
          <p:nvPr/>
        </p:nvSpPr>
        <p:spPr>
          <a:xfrm flipH="true">
            <a:off x="247719" y="486412"/>
            <a:ext cx="17011581" cy="0"/>
          </a:xfrm>
          <a:prstGeom prst="line">
            <a:avLst/>
          </a:prstGeom>
          <a:ln cap="rnd" w="9525">
            <a:solidFill>
              <a:srgbClr val="F1C572"/>
            </a:solidFill>
            <a:prstDash val="solid"/>
            <a:headEnd type="none" len="sm" w="sm"/>
            <a:tailEnd type="none" len="sm" w="sm"/>
          </a:ln>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p:cSld>
    <p:bg>
      <p:bgPr>
        <a:solidFill>
          <a:srgbClr val="57192C"/>
        </a:solidFill>
      </p:bgPr>
    </p:bg>
    <p:spTree>
      <p:nvGrpSpPr>
        <p:cNvPr id="1" name=""/>
        <p:cNvGrpSpPr/>
        <p:nvPr/>
      </p:nvGrpSpPr>
      <p:grpSpPr>
        <a:xfrm>
          <a:off x="0" y="0"/>
          <a:ext cx="0" cy="0"/>
          <a:chOff x="0" y="0"/>
          <a:chExt cx="0" cy="0"/>
        </a:xfrm>
      </p:grpSpPr>
      <p:sp>
        <p:nvSpPr>
          <p:cNvPr name="AutoShape 2" id="2"/>
          <p:cNvSpPr/>
          <p:nvPr/>
        </p:nvSpPr>
        <p:spPr>
          <a:xfrm rot="10795971">
            <a:off x="709029" y="462600"/>
            <a:ext cx="16872822" cy="0"/>
          </a:xfrm>
          <a:prstGeom prst="line">
            <a:avLst/>
          </a:prstGeom>
          <a:ln cap="rnd" w="9525">
            <a:solidFill>
              <a:srgbClr val="F1C572"/>
            </a:solidFill>
            <a:prstDash val="solid"/>
            <a:headEnd type="none" len="sm" w="sm"/>
            <a:tailEnd type="none" len="sm" w="sm"/>
          </a:ln>
        </p:spPr>
      </p:sp>
      <p:grpSp>
        <p:nvGrpSpPr>
          <p:cNvPr name="Group 3" id="3"/>
          <p:cNvGrpSpPr/>
          <p:nvPr/>
        </p:nvGrpSpPr>
        <p:grpSpPr>
          <a:xfrm rot="0">
            <a:off x="318075" y="316635"/>
            <a:ext cx="277530" cy="290490"/>
            <a:chOff x="0" y="0"/>
            <a:chExt cx="370040" cy="387320"/>
          </a:xfrm>
        </p:grpSpPr>
        <p:sp>
          <p:nvSpPr>
            <p:cNvPr name="Freeform 4" id="4"/>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grpSp>
        <p:nvGrpSpPr>
          <p:cNvPr name="Group 5" id="5"/>
          <p:cNvGrpSpPr/>
          <p:nvPr/>
        </p:nvGrpSpPr>
        <p:grpSpPr>
          <a:xfrm rot="0">
            <a:off x="17581845" y="332002"/>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sp>
        <p:nvSpPr>
          <p:cNvPr name="TextBox 7" id="7"/>
          <p:cNvSpPr txBox="true"/>
          <p:nvPr/>
        </p:nvSpPr>
        <p:spPr>
          <a:xfrm rot="0">
            <a:off x="318075" y="8136945"/>
            <a:ext cx="6699177" cy="809625"/>
          </a:xfrm>
          <a:prstGeom prst="rect">
            <a:avLst/>
          </a:prstGeom>
        </p:spPr>
        <p:txBody>
          <a:bodyPr anchor="t" rtlCol="false" tIns="0" lIns="0" bIns="0" rIns="0">
            <a:spAutoFit/>
          </a:bodyPr>
          <a:lstStyle/>
          <a:p>
            <a:pPr algn="ctr">
              <a:lnSpc>
                <a:spcPts val="6239"/>
              </a:lnSpc>
              <a:spcBef>
                <a:spcPct val="0"/>
              </a:spcBef>
            </a:pPr>
            <a:r>
              <a:rPr lang="en-US" sz="5199">
                <a:solidFill>
                  <a:srgbClr val="FFFFFF"/>
                </a:solidFill>
                <a:latin typeface="Arimo"/>
                <a:ea typeface="Arimo"/>
                <a:cs typeface="Arimo"/>
                <a:sym typeface="Arimo"/>
              </a:rPr>
              <a:t>Future Scope</a:t>
            </a:r>
          </a:p>
        </p:txBody>
      </p:sp>
      <p:sp>
        <p:nvSpPr>
          <p:cNvPr name="TextBox 8" id="8"/>
          <p:cNvSpPr txBox="true"/>
          <p:nvPr/>
        </p:nvSpPr>
        <p:spPr>
          <a:xfrm rot="0">
            <a:off x="6928710" y="1048123"/>
            <a:ext cx="10653135" cy="4906479"/>
          </a:xfrm>
          <a:prstGeom prst="rect">
            <a:avLst/>
          </a:prstGeom>
        </p:spPr>
        <p:txBody>
          <a:bodyPr anchor="t" rtlCol="false" tIns="0" lIns="0" bIns="0" rIns="0">
            <a:spAutoFit/>
          </a:bodyPr>
          <a:lstStyle/>
          <a:p>
            <a:pPr algn="l" marL="588524" indent="-294262" lvl="1">
              <a:lnSpc>
                <a:spcPts val="4906"/>
              </a:lnSpc>
              <a:buFont typeface="Arial"/>
              <a:buChar char="•"/>
            </a:pPr>
            <a:r>
              <a:rPr lang="en-US" sz="2725">
                <a:solidFill>
                  <a:srgbClr val="FFFFFF"/>
                </a:solidFill>
                <a:latin typeface="Arimo"/>
                <a:ea typeface="Arimo"/>
                <a:cs typeface="Arimo"/>
                <a:sym typeface="Arimo"/>
              </a:rPr>
              <a:t>A</a:t>
            </a:r>
            <a:r>
              <a:rPr lang="en-US" sz="2725">
                <a:solidFill>
                  <a:srgbClr val="FFFFFF"/>
                </a:solidFill>
                <a:latin typeface="Arimo"/>
                <a:ea typeface="Arimo"/>
                <a:cs typeface="Arimo"/>
                <a:sym typeface="Arimo"/>
              </a:rPr>
              <a:t>pply machine learning models to predict popularity.</a:t>
            </a:r>
          </a:p>
          <a:p>
            <a:pPr algn="l" marL="588524" indent="-294262" lvl="1">
              <a:lnSpc>
                <a:spcPts val="4906"/>
              </a:lnSpc>
              <a:buFont typeface="Arial"/>
              <a:buChar char="•"/>
            </a:pPr>
            <a:r>
              <a:rPr lang="en-US" sz="2725">
                <a:solidFill>
                  <a:srgbClr val="FFFFFF"/>
                </a:solidFill>
                <a:latin typeface="Arimo"/>
                <a:ea typeface="Arimo"/>
                <a:cs typeface="Arimo"/>
                <a:sym typeface="Arimo"/>
              </a:rPr>
              <a:t>B</a:t>
            </a:r>
            <a:r>
              <a:rPr lang="en-US" sz="2725">
                <a:solidFill>
                  <a:srgbClr val="FFFFFF"/>
                </a:solidFill>
                <a:latin typeface="Arimo"/>
                <a:ea typeface="Arimo"/>
                <a:cs typeface="Arimo"/>
                <a:sym typeface="Arimo"/>
              </a:rPr>
              <a:t>uild a recommendation system using clustering or collaborative filtering.</a:t>
            </a:r>
          </a:p>
          <a:p>
            <a:pPr algn="l" marL="588524" indent="-294262" lvl="1">
              <a:lnSpc>
                <a:spcPts val="4906"/>
              </a:lnSpc>
              <a:buFont typeface="Arial"/>
              <a:buChar char="•"/>
            </a:pPr>
            <a:r>
              <a:rPr lang="en-US" sz="2725">
                <a:solidFill>
                  <a:srgbClr val="FFFFFF"/>
                </a:solidFill>
                <a:latin typeface="Arimo"/>
                <a:ea typeface="Arimo"/>
                <a:cs typeface="Arimo"/>
                <a:sym typeface="Arimo"/>
              </a:rPr>
              <a:t>Add genre-wis</a:t>
            </a:r>
            <a:r>
              <a:rPr lang="en-US" sz="2725">
                <a:solidFill>
                  <a:srgbClr val="FFFFFF"/>
                </a:solidFill>
                <a:latin typeface="Arimo"/>
                <a:ea typeface="Arimo"/>
                <a:cs typeface="Arimo"/>
                <a:sym typeface="Arimo"/>
              </a:rPr>
              <a:t>e popularity analysis.</a:t>
            </a:r>
          </a:p>
          <a:p>
            <a:pPr algn="l" marL="588524" indent="-294262" lvl="1">
              <a:lnSpc>
                <a:spcPts val="4906"/>
              </a:lnSpc>
              <a:buFont typeface="Arial"/>
              <a:buChar char="•"/>
            </a:pPr>
            <a:r>
              <a:rPr lang="en-US" sz="2725">
                <a:solidFill>
                  <a:srgbClr val="FFFFFF"/>
                </a:solidFill>
                <a:latin typeface="Arimo"/>
                <a:ea typeface="Arimo"/>
                <a:cs typeface="Arimo"/>
                <a:sym typeface="Arimo"/>
              </a:rPr>
              <a:t>Compare Netflix data with other OTT platforms.</a:t>
            </a:r>
          </a:p>
          <a:p>
            <a:pPr algn="l" marL="588524" indent="-294262" lvl="1">
              <a:lnSpc>
                <a:spcPts val="4906"/>
              </a:lnSpc>
              <a:buFont typeface="Arial"/>
              <a:buChar char="•"/>
            </a:pPr>
            <a:r>
              <a:rPr lang="en-US" sz="2725">
                <a:solidFill>
                  <a:srgbClr val="FFFFFF"/>
                </a:solidFill>
                <a:latin typeface="Arimo"/>
                <a:ea typeface="Arimo"/>
                <a:cs typeface="Arimo"/>
                <a:sym typeface="Arimo"/>
              </a:rPr>
              <a:t>B</a:t>
            </a:r>
            <a:r>
              <a:rPr lang="en-US" sz="2725">
                <a:solidFill>
                  <a:srgbClr val="FFFFFF"/>
                </a:solidFill>
                <a:latin typeface="Arimo"/>
                <a:ea typeface="Arimo"/>
                <a:cs typeface="Arimo"/>
                <a:sym typeface="Arimo"/>
              </a:rPr>
              <a:t>uild an interactive dashboard using Tableau / PowerBI / Streamlit.</a:t>
            </a:r>
          </a:p>
          <a:p>
            <a:pPr algn="l">
              <a:lnSpc>
                <a:spcPts val="4906"/>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7192C"/>
        </a:solidFill>
      </p:bgPr>
    </p:bg>
    <p:spTree>
      <p:nvGrpSpPr>
        <p:cNvPr id="1" name=""/>
        <p:cNvGrpSpPr/>
        <p:nvPr/>
      </p:nvGrpSpPr>
      <p:grpSpPr>
        <a:xfrm>
          <a:off x="0" y="0"/>
          <a:ext cx="0" cy="0"/>
          <a:chOff x="0" y="0"/>
          <a:chExt cx="0" cy="0"/>
        </a:xfrm>
      </p:grpSpPr>
      <p:sp>
        <p:nvSpPr>
          <p:cNvPr name="Freeform 2" id="2"/>
          <p:cNvSpPr/>
          <p:nvPr/>
        </p:nvSpPr>
        <p:spPr>
          <a:xfrm flipH="false" flipV="false" rot="0">
            <a:off x="318075" y="1028700"/>
            <a:ext cx="890575" cy="890575"/>
          </a:xfrm>
          <a:custGeom>
            <a:avLst/>
            <a:gdLst/>
            <a:ahLst/>
            <a:cxnLst/>
            <a:rect r="r" b="b" t="t" l="l"/>
            <a:pathLst>
              <a:path h="890575" w="890575">
                <a:moveTo>
                  <a:pt x="0" y="0"/>
                </a:moveTo>
                <a:lnTo>
                  <a:pt x="890575" y="0"/>
                </a:lnTo>
                <a:lnTo>
                  <a:pt x="890575" y="890575"/>
                </a:lnTo>
                <a:lnTo>
                  <a:pt x="0" y="890575"/>
                </a:lnTo>
                <a:lnTo>
                  <a:pt x="0" y="0"/>
                </a:lnTo>
                <a:close/>
              </a:path>
            </a:pathLst>
          </a:custGeom>
          <a:blipFill>
            <a:blip r:embed="rId2"/>
            <a:stretch>
              <a:fillRect l="0" t="0" r="0" b="0"/>
            </a:stretch>
          </a:blipFill>
        </p:spPr>
      </p:sp>
      <p:grpSp>
        <p:nvGrpSpPr>
          <p:cNvPr name="Group 3" id="3"/>
          <p:cNvGrpSpPr/>
          <p:nvPr/>
        </p:nvGrpSpPr>
        <p:grpSpPr>
          <a:xfrm rot="0">
            <a:off x="318075" y="316635"/>
            <a:ext cx="277530" cy="290490"/>
            <a:chOff x="0" y="0"/>
            <a:chExt cx="370040" cy="387320"/>
          </a:xfrm>
        </p:grpSpPr>
        <p:sp>
          <p:nvSpPr>
            <p:cNvPr name="Freeform 4" id="4"/>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grpSp>
        <p:nvGrpSpPr>
          <p:cNvPr name="Group 5" id="5"/>
          <p:cNvGrpSpPr/>
          <p:nvPr/>
        </p:nvGrpSpPr>
        <p:grpSpPr>
          <a:xfrm rot="0">
            <a:off x="17548764" y="316635"/>
            <a:ext cx="277530" cy="290490"/>
            <a:chOff x="0" y="0"/>
            <a:chExt cx="370040" cy="387320"/>
          </a:xfrm>
        </p:grpSpPr>
        <p:sp>
          <p:nvSpPr>
            <p:cNvPr name="Freeform 6" id="6"/>
            <p:cNvSpPr/>
            <p:nvPr/>
          </p:nvSpPr>
          <p:spPr>
            <a:xfrm flipH="false" flipV="false" rot="0">
              <a:off x="-1270" y="0"/>
              <a:ext cx="372618" cy="387477"/>
            </a:xfrm>
            <a:custGeom>
              <a:avLst/>
              <a:gdLst/>
              <a:ahLst/>
              <a:cxnLst/>
              <a:rect r="r" b="b" t="t" l="l"/>
              <a:pathLst>
                <a:path h="387477" w="372618">
                  <a:moveTo>
                    <a:pt x="14478" y="125095"/>
                  </a:moveTo>
                  <a:lnTo>
                    <a:pt x="115443" y="129159"/>
                  </a:lnTo>
                  <a:lnTo>
                    <a:pt x="114935" y="141859"/>
                  </a:lnTo>
                  <a:lnTo>
                    <a:pt x="102997" y="146304"/>
                  </a:lnTo>
                  <a:lnTo>
                    <a:pt x="67945" y="51689"/>
                  </a:lnTo>
                  <a:cubicBezTo>
                    <a:pt x="65913" y="46355"/>
                    <a:pt x="67818" y="40386"/>
                    <a:pt x="72390" y="36957"/>
                  </a:cubicBezTo>
                  <a:cubicBezTo>
                    <a:pt x="76962" y="33528"/>
                    <a:pt x="83312" y="33782"/>
                    <a:pt x="87757" y="37211"/>
                  </a:cubicBezTo>
                  <a:lnTo>
                    <a:pt x="167005" y="99822"/>
                  </a:lnTo>
                  <a:lnTo>
                    <a:pt x="159131" y="109728"/>
                  </a:lnTo>
                  <a:lnTo>
                    <a:pt x="146939" y="106299"/>
                  </a:lnTo>
                  <a:lnTo>
                    <a:pt x="174117" y="9271"/>
                  </a:lnTo>
                  <a:cubicBezTo>
                    <a:pt x="175641" y="3810"/>
                    <a:pt x="180594" y="0"/>
                    <a:pt x="186309" y="0"/>
                  </a:cubicBezTo>
                  <a:cubicBezTo>
                    <a:pt x="192024" y="0"/>
                    <a:pt x="196977" y="3810"/>
                    <a:pt x="198501" y="9271"/>
                  </a:cubicBezTo>
                  <a:lnTo>
                    <a:pt x="225806" y="106426"/>
                  </a:lnTo>
                  <a:lnTo>
                    <a:pt x="213614" y="109855"/>
                  </a:lnTo>
                  <a:lnTo>
                    <a:pt x="205740" y="99949"/>
                  </a:lnTo>
                  <a:lnTo>
                    <a:pt x="284988" y="37338"/>
                  </a:lnTo>
                  <a:cubicBezTo>
                    <a:pt x="289433" y="33782"/>
                    <a:pt x="295783" y="33655"/>
                    <a:pt x="300355" y="37084"/>
                  </a:cubicBezTo>
                  <a:cubicBezTo>
                    <a:pt x="304927" y="40513"/>
                    <a:pt x="306832" y="46482"/>
                    <a:pt x="304800" y="51816"/>
                  </a:cubicBezTo>
                  <a:lnTo>
                    <a:pt x="269748" y="146431"/>
                  </a:lnTo>
                  <a:lnTo>
                    <a:pt x="257810" y="141986"/>
                  </a:lnTo>
                  <a:lnTo>
                    <a:pt x="257302" y="129286"/>
                  </a:lnTo>
                  <a:lnTo>
                    <a:pt x="358267" y="125222"/>
                  </a:lnTo>
                  <a:cubicBezTo>
                    <a:pt x="363982" y="124968"/>
                    <a:pt x="369062" y="128524"/>
                    <a:pt x="370840" y="133985"/>
                  </a:cubicBezTo>
                  <a:cubicBezTo>
                    <a:pt x="372618" y="139446"/>
                    <a:pt x="370586" y="145288"/>
                    <a:pt x="365760" y="148463"/>
                  </a:cubicBezTo>
                  <a:lnTo>
                    <a:pt x="281686" y="204343"/>
                  </a:lnTo>
                  <a:lnTo>
                    <a:pt x="274701" y="193802"/>
                  </a:lnTo>
                  <a:lnTo>
                    <a:pt x="281686" y="183261"/>
                  </a:lnTo>
                  <a:lnTo>
                    <a:pt x="365760" y="239141"/>
                  </a:lnTo>
                  <a:cubicBezTo>
                    <a:pt x="370459" y="242316"/>
                    <a:pt x="372618" y="248158"/>
                    <a:pt x="370840" y="253619"/>
                  </a:cubicBezTo>
                  <a:cubicBezTo>
                    <a:pt x="369062" y="259080"/>
                    <a:pt x="363982" y="262636"/>
                    <a:pt x="358267" y="262382"/>
                  </a:cubicBezTo>
                  <a:lnTo>
                    <a:pt x="257302" y="258318"/>
                  </a:lnTo>
                  <a:lnTo>
                    <a:pt x="257810" y="245618"/>
                  </a:lnTo>
                  <a:lnTo>
                    <a:pt x="269748" y="241173"/>
                  </a:lnTo>
                  <a:lnTo>
                    <a:pt x="304800" y="335788"/>
                  </a:lnTo>
                  <a:cubicBezTo>
                    <a:pt x="306832" y="341122"/>
                    <a:pt x="304927" y="347091"/>
                    <a:pt x="300355" y="350520"/>
                  </a:cubicBezTo>
                  <a:cubicBezTo>
                    <a:pt x="295783" y="353949"/>
                    <a:pt x="289433" y="353695"/>
                    <a:pt x="284988" y="350266"/>
                  </a:cubicBezTo>
                  <a:lnTo>
                    <a:pt x="205740" y="287528"/>
                  </a:lnTo>
                  <a:lnTo>
                    <a:pt x="213614" y="277622"/>
                  </a:lnTo>
                  <a:lnTo>
                    <a:pt x="225806" y="281051"/>
                  </a:lnTo>
                  <a:lnTo>
                    <a:pt x="198501" y="378206"/>
                  </a:lnTo>
                  <a:cubicBezTo>
                    <a:pt x="196977" y="383667"/>
                    <a:pt x="192024" y="387477"/>
                    <a:pt x="186309" y="387477"/>
                  </a:cubicBezTo>
                  <a:cubicBezTo>
                    <a:pt x="180594" y="387477"/>
                    <a:pt x="175641" y="383667"/>
                    <a:pt x="174117" y="378206"/>
                  </a:cubicBezTo>
                  <a:lnTo>
                    <a:pt x="146812" y="281051"/>
                  </a:lnTo>
                  <a:lnTo>
                    <a:pt x="159004" y="277622"/>
                  </a:lnTo>
                  <a:lnTo>
                    <a:pt x="166878" y="287528"/>
                  </a:lnTo>
                  <a:lnTo>
                    <a:pt x="87630" y="350012"/>
                  </a:lnTo>
                  <a:cubicBezTo>
                    <a:pt x="83185" y="353568"/>
                    <a:pt x="76835" y="353695"/>
                    <a:pt x="72263" y="350266"/>
                  </a:cubicBezTo>
                  <a:cubicBezTo>
                    <a:pt x="67691" y="346837"/>
                    <a:pt x="65786" y="340868"/>
                    <a:pt x="67818" y="335534"/>
                  </a:cubicBezTo>
                  <a:lnTo>
                    <a:pt x="102870" y="240919"/>
                  </a:lnTo>
                  <a:lnTo>
                    <a:pt x="114808" y="245364"/>
                  </a:lnTo>
                  <a:lnTo>
                    <a:pt x="115316" y="258064"/>
                  </a:lnTo>
                  <a:lnTo>
                    <a:pt x="14351" y="262128"/>
                  </a:lnTo>
                  <a:cubicBezTo>
                    <a:pt x="8636" y="262382"/>
                    <a:pt x="3556" y="258826"/>
                    <a:pt x="1778" y="253365"/>
                  </a:cubicBezTo>
                  <a:cubicBezTo>
                    <a:pt x="0" y="247904"/>
                    <a:pt x="2032" y="242062"/>
                    <a:pt x="6858" y="238887"/>
                  </a:cubicBezTo>
                  <a:lnTo>
                    <a:pt x="90932" y="183007"/>
                  </a:lnTo>
                  <a:lnTo>
                    <a:pt x="97917" y="193548"/>
                  </a:lnTo>
                  <a:lnTo>
                    <a:pt x="90932" y="204089"/>
                  </a:lnTo>
                  <a:lnTo>
                    <a:pt x="6858" y="148209"/>
                  </a:lnTo>
                  <a:cubicBezTo>
                    <a:pt x="2159" y="145034"/>
                    <a:pt x="0" y="139192"/>
                    <a:pt x="1778" y="133731"/>
                  </a:cubicBezTo>
                  <a:cubicBezTo>
                    <a:pt x="3556" y="128270"/>
                    <a:pt x="8636" y="124714"/>
                    <a:pt x="14351" y="124968"/>
                  </a:cubicBezTo>
                  <a:moveTo>
                    <a:pt x="13335" y="150368"/>
                  </a:moveTo>
                  <a:lnTo>
                    <a:pt x="13843" y="137668"/>
                  </a:lnTo>
                  <a:lnTo>
                    <a:pt x="20828" y="127127"/>
                  </a:lnTo>
                  <a:lnTo>
                    <a:pt x="104902" y="183007"/>
                  </a:lnTo>
                  <a:cubicBezTo>
                    <a:pt x="108458" y="185420"/>
                    <a:pt x="110617" y="189357"/>
                    <a:pt x="110617" y="193548"/>
                  </a:cubicBezTo>
                  <a:cubicBezTo>
                    <a:pt x="110617" y="197739"/>
                    <a:pt x="108458" y="201803"/>
                    <a:pt x="104902" y="204089"/>
                  </a:cubicBezTo>
                  <a:lnTo>
                    <a:pt x="20828" y="259969"/>
                  </a:lnTo>
                  <a:lnTo>
                    <a:pt x="13970" y="249555"/>
                  </a:lnTo>
                  <a:lnTo>
                    <a:pt x="13462" y="236855"/>
                  </a:lnTo>
                  <a:lnTo>
                    <a:pt x="114427" y="232791"/>
                  </a:lnTo>
                  <a:cubicBezTo>
                    <a:pt x="118618" y="232664"/>
                    <a:pt x="122682" y="234569"/>
                    <a:pt x="125222" y="237998"/>
                  </a:cubicBezTo>
                  <a:cubicBezTo>
                    <a:pt x="127762" y="241427"/>
                    <a:pt x="128270" y="245872"/>
                    <a:pt x="126873" y="249936"/>
                  </a:cubicBezTo>
                  <a:lnTo>
                    <a:pt x="91694" y="344424"/>
                  </a:lnTo>
                  <a:lnTo>
                    <a:pt x="79756" y="339979"/>
                  </a:lnTo>
                  <a:lnTo>
                    <a:pt x="71882" y="330073"/>
                  </a:lnTo>
                  <a:lnTo>
                    <a:pt x="151130" y="267462"/>
                  </a:lnTo>
                  <a:cubicBezTo>
                    <a:pt x="154432" y="264795"/>
                    <a:pt x="158877" y="264033"/>
                    <a:pt x="162941" y="265303"/>
                  </a:cubicBezTo>
                  <a:cubicBezTo>
                    <a:pt x="167005" y="266573"/>
                    <a:pt x="170053" y="269875"/>
                    <a:pt x="171196" y="273939"/>
                  </a:cubicBezTo>
                  <a:lnTo>
                    <a:pt x="198501" y="371094"/>
                  </a:lnTo>
                  <a:lnTo>
                    <a:pt x="186309" y="374523"/>
                  </a:lnTo>
                  <a:lnTo>
                    <a:pt x="174117" y="371094"/>
                  </a:lnTo>
                  <a:lnTo>
                    <a:pt x="201422" y="273939"/>
                  </a:lnTo>
                  <a:cubicBezTo>
                    <a:pt x="202565" y="269875"/>
                    <a:pt x="205740" y="266573"/>
                    <a:pt x="209677" y="265303"/>
                  </a:cubicBezTo>
                  <a:cubicBezTo>
                    <a:pt x="213614" y="264033"/>
                    <a:pt x="218186" y="264795"/>
                    <a:pt x="221488" y="267462"/>
                  </a:cubicBezTo>
                  <a:lnTo>
                    <a:pt x="300736" y="330073"/>
                  </a:lnTo>
                  <a:lnTo>
                    <a:pt x="292862" y="339979"/>
                  </a:lnTo>
                  <a:lnTo>
                    <a:pt x="280924" y="344424"/>
                  </a:lnTo>
                  <a:lnTo>
                    <a:pt x="245872" y="249809"/>
                  </a:lnTo>
                  <a:cubicBezTo>
                    <a:pt x="244348" y="245872"/>
                    <a:pt x="244983" y="241427"/>
                    <a:pt x="247523" y="237871"/>
                  </a:cubicBezTo>
                  <a:cubicBezTo>
                    <a:pt x="250063" y="234315"/>
                    <a:pt x="254127" y="232410"/>
                    <a:pt x="258318" y="232664"/>
                  </a:cubicBezTo>
                  <a:lnTo>
                    <a:pt x="359283" y="236728"/>
                  </a:lnTo>
                  <a:lnTo>
                    <a:pt x="358775" y="249428"/>
                  </a:lnTo>
                  <a:lnTo>
                    <a:pt x="351790" y="259969"/>
                  </a:lnTo>
                  <a:lnTo>
                    <a:pt x="267716" y="204089"/>
                  </a:lnTo>
                  <a:cubicBezTo>
                    <a:pt x="264160" y="201676"/>
                    <a:pt x="262001" y="197739"/>
                    <a:pt x="262001" y="193548"/>
                  </a:cubicBezTo>
                  <a:cubicBezTo>
                    <a:pt x="262001" y="189357"/>
                    <a:pt x="264160" y="185293"/>
                    <a:pt x="267716" y="183007"/>
                  </a:cubicBezTo>
                  <a:lnTo>
                    <a:pt x="351790" y="127127"/>
                  </a:lnTo>
                  <a:lnTo>
                    <a:pt x="358775" y="137668"/>
                  </a:lnTo>
                  <a:lnTo>
                    <a:pt x="359283" y="150368"/>
                  </a:lnTo>
                  <a:lnTo>
                    <a:pt x="258318" y="154432"/>
                  </a:lnTo>
                  <a:cubicBezTo>
                    <a:pt x="254127" y="154559"/>
                    <a:pt x="250063" y="152654"/>
                    <a:pt x="247523" y="149225"/>
                  </a:cubicBezTo>
                  <a:cubicBezTo>
                    <a:pt x="244983" y="145796"/>
                    <a:pt x="244475" y="141351"/>
                    <a:pt x="245872" y="137287"/>
                  </a:cubicBezTo>
                  <a:lnTo>
                    <a:pt x="280924" y="42672"/>
                  </a:lnTo>
                  <a:lnTo>
                    <a:pt x="292862" y="47117"/>
                  </a:lnTo>
                  <a:lnTo>
                    <a:pt x="300736" y="57023"/>
                  </a:lnTo>
                  <a:lnTo>
                    <a:pt x="221488" y="119634"/>
                  </a:lnTo>
                  <a:cubicBezTo>
                    <a:pt x="218186" y="122301"/>
                    <a:pt x="213741" y="123063"/>
                    <a:pt x="209677" y="121793"/>
                  </a:cubicBezTo>
                  <a:cubicBezTo>
                    <a:pt x="205613" y="120523"/>
                    <a:pt x="202565" y="117221"/>
                    <a:pt x="201422" y="113157"/>
                  </a:cubicBezTo>
                  <a:lnTo>
                    <a:pt x="174117" y="16129"/>
                  </a:lnTo>
                  <a:lnTo>
                    <a:pt x="186309" y="12700"/>
                  </a:lnTo>
                  <a:lnTo>
                    <a:pt x="198501" y="16129"/>
                  </a:lnTo>
                  <a:lnTo>
                    <a:pt x="171196" y="113284"/>
                  </a:lnTo>
                  <a:cubicBezTo>
                    <a:pt x="170053" y="117348"/>
                    <a:pt x="166878" y="120650"/>
                    <a:pt x="162941" y="121920"/>
                  </a:cubicBezTo>
                  <a:cubicBezTo>
                    <a:pt x="159004" y="123190"/>
                    <a:pt x="154432" y="122428"/>
                    <a:pt x="151130" y="119761"/>
                  </a:cubicBezTo>
                  <a:lnTo>
                    <a:pt x="71882" y="57277"/>
                  </a:lnTo>
                  <a:lnTo>
                    <a:pt x="79756" y="47371"/>
                  </a:lnTo>
                  <a:lnTo>
                    <a:pt x="91694" y="42926"/>
                  </a:lnTo>
                  <a:lnTo>
                    <a:pt x="126746" y="137541"/>
                  </a:lnTo>
                  <a:cubicBezTo>
                    <a:pt x="128270" y="141478"/>
                    <a:pt x="127635" y="145923"/>
                    <a:pt x="125095" y="149479"/>
                  </a:cubicBezTo>
                  <a:cubicBezTo>
                    <a:pt x="122555" y="153035"/>
                    <a:pt x="118491" y="154940"/>
                    <a:pt x="114300" y="154686"/>
                  </a:cubicBezTo>
                  <a:lnTo>
                    <a:pt x="13462" y="150368"/>
                  </a:lnTo>
                  <a:close/>
                </a:path>
              </a:pathLst>
            </a:custGeom>
            <a:solidFill>
              <a:srgbClr val="F1C572"/>
            </a:solidFill>
          </p:spPr>
        </p:sp>
      </p:grpSp>
      <p:sp>
        <p:nvSpPr>
          <p:cNvPr name="AutoShape 7" id="7"/>
          <p:cNvSpPr/>
          <p:nvPr/>
        </p:nvSpPr>
        <p:spPr>
          <a:xfrm flipH="true">
            <a:off x="456846" y="486412"/>
            <a:ext cx="17006409" cy="0"/>
          </a:xfrm>
          <a:prstGeom prst="line">
            <a:avLst/>
          </a:prstGeom>
          <a:ln cap="rnd" w="9525">
            <a:solidFill>
              <a:srgbClr val="F1C572"/>
            </a:solidFill>
            <a:prstDash val="solid"/>
            <a:headEnd type="none" len="sm" w="sm"/>
            <a:tailEnd type="none" len="sm" w="sm"/>
          </a:ln>
        </p:spPr>
      </p:sp>
      <p:sp>
        <p:nvSpPr>
          <p:cNvPr name="TextBox 8" id="8"/>
          <p:cNvSpPr txBox="true"/>
          <p:nvPr/>
        </p:nvSpPr>
        <p:spPr>
          <a:xfrm rot="0">
            <a:off x="12182887" y="4177535"/>
            <a:ext cx="5193505" cy="3466408"/>
          </a:xfrm>
          <a:prstGeom prst="rect">
            <a:avLst/>
          </a:prstGeom>
        </p:spPr>
        <p:txBody>
          <a:bodyPr anchor="t" rtlCol="false" tIns="0" lIns="0" bIns="0" rIns="0">
            <a:spAutoFit/>
          </a:bodyPr>
          <a:lstStyle/>
          <a:p>
            <a:pPr algn="ctr">
              <a:lnSpc>
                <a:spcPts val="13953"/>
              </a:lnSpc>
            </a:pPr>
            <a:r>
              <a:rPr lang="en-US" sz="9966">
                <a:solidFill>
                  <a:srgbClr val="FFFFFF"/>
                </a:solidFill>
                <a:latin typeface="Playpen Sans"/>
                <a:ea typeface="Playpen Sans"/>
                <a:cs typeface="Playpen Sans"/>
                <a:sym typeface="Playpen Sans"/>
              </a:rPr>
              <a:t>THANK </a:t>
            </a:r>
          </a:p>
          <a:p>
            <a:pPr algn="ctr">
              <a:lnSpc>
                <a:spcPts val="13953"/>
              </a:lnSpc>
            </a:pPr>
            <a:r>
              <a:rPr lang="en-US" sz="9966">
                <a:solidFill>
                  <a:srgbClr val="FFFFFF"/>
                </a:solidFill>
                <a:latin typeface="Playpen Sans"/>
                <a:ea typeface="Playpen Sans"/>
                <a:cs typeface="Playpen Sans"/>
                <a:sym typeface="Playpen Sans"/>
              </a:rPr>
              <a:t>YOU</a:t>
            </a:r>
          </a:p>
        </p:txBody>
      </p:sp>
      <p:sp>
        <p:nvSpPr>
          <p:cNvPr name="TextBox 9" id="9"/>
          <p:cNvSpPr txBox="true"/>
          <p:nvPr/>
        </p:nvSpPr>
        <p:spPr>
          <a:xfrm rot="0">
            <a:off x="-1407924" y="1245387"/>
            <a:ext cx="17147158" cy="447675"/>
          </a:xfrm>
          <a:prstGeom prst="rect">
            <a:avLst/>
          </a:prstGeom>
        </p:spPr>
        <p:txBody>
          <a:bodyPr anchor="t" rtlCol="false" tIns="0" lIns="0" bIns="0" rIns="0">
            <a:spAutoFit/>
          </a:bodyPr>
          <a:lstStyle/>
          <a:p>
            <a:pPr algn="ctr">
              <a:lnSpc>
                <a:spcPts val="3480"/>
              </a:lnSpc>
              <a:spcBef>
                <a:spcPct val="0"/>
              </a:spcBef>
            </a:pPr>
            <a:r>
              <a:rPr lang="en-US" b="true" sz="2900">
                <a:solidFill>
                  <a:srgbClr val="FFFFFF"/>
                </a:solidFill>
                <a:latin typeface="Arimo Bold"/>
                <a:ea typeface="Arimo Bold"/>
                <a:cs typeface="Arimo Bold"/>
                <a:sym typeface="Arimo Bold"/>
              </a:rPr>
              <a:t>https://github.com/richebiswas/EDA-on-Netflix-Movies-TV-Shows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DAG4r-XMiso</dc:identifier>
  <dcterms:modified xsi:type="dcterms:W3CDTF">2011-08-01T06:04:30Z</dcterms:modified>
  <cp:revision>1</cp:revision>
  <dc:title>Netflix EDA.pptx</dc:title>
</cp:coreProperties>
</file>